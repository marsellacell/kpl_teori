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8"/>
  </p:normalViewPr>
  <p:slideViewPr>
    <p:cSldViewPr snapToGrid="0">
      <p:cViewPr varScale="1">
        <p:scale>
          <a:sx n="112" d="100"/>
          <a:sy n="112" d="100"/>
        </p:scale>
        <p:origin x="48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E7D37A-34DD-4743-9908-F26A3816CB10}" type="datetimeFigureOut">
              <a:rPr lang="en-US" smtClean="0"/>
              <a:t>2/12/25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7D475B-8B49-D449-A22C-0496517E212E}" type="slidenum">
              <a:rPr lang="en-US" smtClean="0"/>
              <a:t>‹#›</a:t>
            </a:fld>
            <a:endParaRPr lang="en-US"/>
          </a:p>
        </p:txBody>
      </p:sp>
    </p:spTree>
    <p:extLst>
      <p:ext uri="{BB962C8B-B14F-4D97-AF65-F5344CB8AC3E}">
        <p14:creationId xmlns:p14="http://schemas.microsoft.com/office/powerpoint/2010/main" val="3843361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sz="1800" dirty="0">
                <a:effectLst/>
                <a:latin typeface="TimesNewRomanPSMT"/>
              </a:rPr>
              <a:t>Software design, viewed as a life cycle activity, is the application of software engineering discipline in which software requirements are </a:t>
            </a:r>
            <a:r>
              <a:rPr lang="en-ID" sz="1800" dirty="0" err="1">
                <a:effectLst/>
                <a:latin typeface="TimesNewRomanPSMT"/>
              </a:rPr>
              <a:t>analyzed</a:t>
            </a:r>
            <a:r>
              <a:rPr lang="en-ID" sz="1800" dirty="0">
                <a:effectLst/>
                <a:latin typeface="TimesNewRomanPSMT"/>
              </a:rPr>
              <a:t> to define the software’s external characteristics and internal structure as the basis for the software’s construction. </a:t>
            </a:r>
            <a:endParaRPr lang="en-ID" dirty="0"/>
          </a:p>
          <a:p>
            <a:r>
              <a:rPr lang="en-ID" sz="1800" dirty="0">
                <a:effectLst/>
                <a:latin typeface="TimesNewRomanPSMT"/>
              </a:rPr>
              <a:t>A </a:t>
            </a:r>
            <a:r>
              <a:rPr lang="en-ID" sz="1800" i="1" dirty="0">
                <a:effectLst/>
                <a:latin typeface="TimesNewRomanPS"/>
              </a:rPr>
              <a:t>software design description </a:t>
            </a:r>
            <a:r>
              <a:rPr lang="en-ID" sz="1800" dirty="0">
                <a:effectLst/>
                <a:latin typeface="TimesNewRomanPSMT"/>
              </a:rPr>
              <a:t>(SDD) documents the result of software design. It is a “representation of software created to facilitate analysis, planning, implementation, and decision- making. The software design description is used as a medium for communicating software design information and can be thought of as a blueprint or model of the system” [10]. </a:t>
            </a:r>
            <a:endParaRPr lang="en-ID" dirty="0"/>
          </a:p>
          <a:p>
            <a:r>
              <a:rPr lang="en-ID" sz="1800" dirty="0">
                <a:effectLst/>
                <a:latin typeface="TimesNewRomanPSMT"/>
              </a:rPr>
              <a:t>The SDD, which may take many forms, encompasses the refinement of that software into components, the organization of those components, and the definition of interfaces among them and between the software and the outside world—to a level of detail that enables their construction. </a:t>
            </a:r>
            <a:endParaRPr lang="en-ID" dirty="0"/>
          </a:p>
          <a:p>
            <a:r>
              <a:rPr lang="en-ID" sz="1800" dirty="0">
                <a:effectLst/>
                <a:latin typeface="TimesNewRomanPSMT"/>
              </a:rPr>
              <a:t>Software design takes place in three stages: </a:t>
            </a:r>
            <a:endParaRPr lang="en-ID" dirty="0"/>
          </a:p>
          <a:p>
            <a:r>
              <a:rPr lang="en-ID" sz="1800" dirty="0">
                <a:effectLst/>
                <a:latin typeface="SymbolMT"/>
              </a:rPr>
              <a:t>• </a:t>
            </a:r>
            <a:r>
              <a:rPr lang="en-ID" sz="1800" dirty="0">
                <a:effectLst/>
                <a:latin typeface="TimesNewRomanPSMT"/>
              </a:rPr>
              <a:t>architectural design of the software system </a:t>
            </a:r>
            <a:endParaRPr lang="en-ID" dirty="0"/>
          </a:p>
          <a:p>
            <a:r>
              <a:rPr lang="en-ID" sz="1800" dirty="0">
                <a:effectLst/>
                <a:latin typeface="SymbolMT"/>
              </a:rPr>
              <a:t>• </a:t>
            </a:r>
            <a:r>
              <a:rPr lang="en-ID" sz="1800" dirty="0">
                <a:effectLst/>
                <a:latin typeface="TimesNewRomanPSMT"/>
              </a:rPr>
              <a:t>high-level or external-facing design of the system and its components </a:t>
            </a:r>
            <a:endParaRPr lang="en-ID" dirty="0"/>
          </a:p>
          <a:p>
            <a:r>
              <a:rPr lang="en-ID" sz="1800" dirty="0">
                <a:effectLst/>
                <a:latin typeface="SymbolMT"/>
              </a:rPr>
              <a:t>• </a:t>
            </a:r>
            <a:r>
              <a:rPr lang="en-ID" sz="1800" dirty="0">
                <a:effectLst/>
                <a:latin typeface="TimesNewRomanPSMT"/>
              </a:rPr>
              <a:t>detailed or internal-facing design</a:t>
            </a:r>
            <a:br>
              <a:rPr lang="en-ID" sz="1800" dirty="0">
                <a:effectLst/>
                <a:latin typeface="TimesNewRomanPSMT"/>
              </a:rPr>
            </a:br>
            <a:endParaRPr lang="en-ID" dirty="0"/>
          </a:p>
          <a:p>
            <a:endParaRPr lang="en-US" dirty="0"/>
          </a:p>
        </p:txBody>
      </p:sp>
      <p:sp>
        <p:nvSpPr>
          <p:cNvPr id="4" name="Slide Number Placeholder 3"/>
          <p:cNvSpPr>
            <a:spLocks noGrp="1"/>
          </p:cNvSpPr>
          <p:nvPr>
            <p:ph type="sldNum" sz="quarter" idx="5"/>
          </p:nvPr>
        </p:nvSpPr>
        <p:spPr/>
        <p:txBody>
          <a:bodyPr/>
          <a:lstStyle/>
          <a:p>
            <a:fld id="{BA7D475B-8B49-D449-A22C-0496517E212E}" type="slidenum">
              <a:rPr lang="en-US" smtClean="0"/>
              <a:t>2</a:t>
            </a:fld>
            <a:endParaRPr lang="en-US"/>
          </a:p>
        </p:txBody>
      </p:sp>
    </p:spTree>
    <p:extLst>
      <p:ext uri="{BB962C8B-B14F-4D97-AF65-F5344CB8AC3E}">
        <p14:creationId xmlns:p14="http://schemas.microsoft.com/office/powerpoint/2010/main" val="14910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en-ID" sz="1800" dirty="0">
                <a:effectLst/>
                <a:latin typeface="TimesNewRomanPSMT"/>
              </a:rPr>
              <a:t>The architectural design stage addresses the fundamentals of the system as a whole and situated in its environment (see </a:t>
            </a:r>
            <a:r>
              <a:rPr lang="en-ID" sz="1800" dirty="0">
                <a:solidFill>
                  <a:srgbClr val="0230FF"/>
                </a:solidFill>
                <a:effectLst/>
                <a:latin typeface="TimesNewRomanPSMT"/>
              </a:rPr>
              <a:t>Software Architecture KA</a:t>
            </a:r>
            <a:r>
              <a:rPr lang="en-ID" sz="1800" dirty="0">
                <a:effectLst/>
                <a:latin typeface="TimesNewRomanPSMT"/>
              </a:rPr>
              <a:t>). </a:t>
            </a:r>
            <a:endParaRPr lang="en-ID" sz="2800" dirty="0">
              <a:effectLst/>
            </a:endParaRPr>
          </a:p>
          <a:p>
            <a:pPr>
              <a:buFont typeface="+mj-lt"/>
              <a:buAutoNum type="arabicPeriod"/>
            </a:pPr>
            <a:r>
              <a:rPr lang="en-ID" sz="1800" dirty="0">
                <a:effectLst/>
                <a:latin typeface="TimesNewRomanPSMT"/>
              </a:rPr>
              <a:t>The high-level design stage is </a:t>
            </a:r>
            <a:r>
              <a:rPr lang="en-ID" sz="1800" i="1" dirty="0">
                <a:effectLst/>
                <a:latin typeface="TimesNewRomanPS"/>
              </a:rPr>
              <a:t>outward-facing</a:t>
            </a:r>
            <a:r>
              <a:rPr lang="en-ID" sz="1800" dirty="0">
                <a:effectLst/>
                <a:latin typeface="TimesNewRomanPSMT"/>
              </a:rPr>
              <a:t>—developing the top-level structure and organization of the software, identifying its various components and how that software system and its components interact with the environment and its elements. </a:t>
            </a:r>
            <a:endParaRPr lang="en-ID" sz="2800" dirty="0">
              <a:effectLst/>
            </a:endParaRPr>
          </a:p>
          <a:p>
            <a:pPr>
              <a:buFont typeface="+mj-lt"/>
              <a:buAutoNum type="arabicPeriod"/>
            </a:pPr>
            <a:r>
              <a:rPr lang="en-ID" sz="1800" dirty="0">
                <a:effectLst/>
                <a:latin typeface="TimesNewRomanPSMT"/>
              </a:rPr>
              <a:t>The detailed design stage is </a:t>
            </a:r>
            <a:r>
              <a:rPr lang="en-ID" sz="1800" i="1" dirty="0">
                <a:effectLst/>
                <a:latin typeface="TimesNewRomanPS"/>
              </a:rPr>
              <a:t>inward-facing</a:t>
            </a:r>
            <a:r>
              <a:rPr lang="en-ID" sz="1800" dirty="0">
                <a:effectLst/>
                <a:latin typeface="TimesNewRomanPSMT"/>
              </a:rPr>
              <a:t>—specifying each component in sufficient detail to facilitate its construction and to meet its outside obligations, including how software components are further refined into modules and units. </a:t>
            </a:r>
            <a:endParaRPr lang="en-ID" sz="2800" dirty="0">
              <a:effectLst/>
            </a:endParaRPr>
          </a:p>
          <a:p>
            <a:pPr>
              <a:buFont typeface="+mj-lt"/>
              <a:buAutoNum type="arabicPeriod"/>
            </a:pPr>
            <a:endParaRPr lang="en-ID" sz="1800" dirty="0">
              <a:effectLst/>
              <a:latin typeface="TimesNewRomanPSMT"/>
            </a:endParaRPr>
          </a:p>
          <a:p>
            <a:pPr>
              <a:buFont typeface="+mj-lt"/>
              <a:buAutoNum type="arabicPeriod"/>
            </a:pPr>
            <a:endParaRPr lang="en-ID" sz="1800" dirty="0">
              <a:effectLst/>
              <a:latin typeface="TimesNewRomanPSMT"/>
            </a:endParaRPr>
          </a:p>
          <a:p>
            <a:pPr>
              <a:buFont typeface="+mj-lt"/>
              <a:buAutoNum type="arabicPeriod"/>
            </a:pPr>
            <a:r>
              <a:rPr lang="en-ID" sz="1800" dirty="0">
                <a:effectLst/>
                <a:latin typeface="TimesNewRomanPSMT"/>
              </a:rPr>
              <a:t>The architectural design stage addresses the fundamentals of the system as a whole and situated in its environment (see </a:t>
            </a:r>
            <a:r>
              <a:rPr lang="en-ID" sz="1800" dirty="0">
                <a:solidFill>
                  <a:srgbClr val="0230FF"/>
                </a:solidFill>
                <a:effectLst/>
                <a:latin typeface="TimesNewRomanPSMT"/>
              </a:rPr>
              <a:t>Software Architecture KA</a:t>
            </a:r>
            <a:r>
              <a:rPr lang="en-ID" sz="1800" dirty="0">
                <a:effectLst/>
                <a:latin typeface="TimesNewRomanPSMT"/>
              </a:rPr>
              <a:t>). </a:t>
            </a:r>
            <a:endParaRPr lang="en-ID" dirty="0">
              <a:effectLst/>
            </a:endParaRPr>
          </a:p>
          <a:p>
            <a:pPr>
              <a:buFont typeface="+mj-lt"/>
              <a:buAutoNum type="arabicPeriod"/>
            </a:pPr>
            <a:r>
              <a:rPr lang="en-ID" sz="1800" dirty="0">
                <a:effectLst/>
                <a:latin typeface="TimesNewRomanPSMT"/>
              </a:rPr>
              <a:t>The high-level design stage is </a:t>
            </a:r>
            <a:r>
              <a:rPr lang="en-ID" sz="1800" i="1" dirty="0">
                <a:effectLst/>
                <a:latin typeface="TimesNewRomanPS"/>
              </a:rPr>
              <a:t>outward-facing</a:t>
            </a:r>
            <a:r>
              <a:rPr lang="en-ID" sz="1800" dirty="0">
                <a:effectLst/>
                <a:latin typeface="TimesNewRomanPSMT"/>
              </a:rPr>
              <a:t>—developing the top-level structure and organization of the software, identifying its various components and how that software system and its components interact with the environment and its elements. </a:t>
            </a:r>
            <a:endParaRPr lang="en-ID" dirty="0">
              <a:effectLst/>
            </a:endParaRPr>
          </a:p>
          <a:p>
            <a:pPr>
              <a:buFont typeface="+mj-lt"/>
              <a:buAutoNum type="arabicPeriod"/>
            </a:pPr>
            <a:r>
              <a:rPr lang="en-ID" sz="1800" dirty="0">
                <a:effectLst/>
                <a:latin typeface="TimesNewRomanPSMT"/>
              </a:rPr>
              <a:t>The detailed design stage is </a:t>
            </a:r>
            <a:r>
              <a:rPr lang="en-ID" sz="1800" i="1" dirty="0">
                <a:effectLst/>
                <a:latin typeface="TimesNewRomanPS"/>
              </a:rPr>
              <a:t>inward-facing</a:t>
            </a:r>
            <a:r>
              <a:rPr lang="en-ID" sz="1800" dirty="0">
                <a:effectLst/>
                <a:latin typeface="TimesNewRomanPSMT"/>
              </a:rPr>
              <a:t>—specifying each component in sufficient detail to facilitate its construction and to meet its outside obligations, including how software components are further refined into modules and units. </a:t>
            </a:r>
            <a:endParaRPr lang="en-ID" dirty="0">
              <a:effectLst/>
            </a:endParaRPr>
          </a:p>
          <a:p>
            <a:endParaRPr lang="en-US" dirty="0"/>
          </a:p>
        </p:txBody>
      </p:sp>
      <p:sp>
        <p:nvSpPr>
          <p:cNvPr id="4" name="Slide Number Placeholder 3"/>
          <p:cNvSpPr>
            <a:spLocks noGrp="1"/>
          </p:cNvSpPr>
          <p:nvPr>
            <p:ph type="sldNum" sz="quarter" idx="5"/>
          </p:nvPr>
        </p:nvSpPr>
        <p:spPr/>
        <p:txBody>
          <a:bodyPr/>
          <a:lstStyle/>
          <a:p>
            <a:fld id="{BA7D475B-8B49-D449-A22C-0496517E212E}" type="slidenum">
              <a:rPr lang="en-US" smtClean="0"/>
              <a:t>4</a:t>
            </a:fld>
            <a:endParaRPr lang="en-US"/>
          </a:p>
        </p:txBody>
      </p:sp>
    </p:spTree>
    <p:extLst>
      <p:ext uri="{BB962C8B-B14F-4D97-AF65-F5344CB8AC3E}">
        <p14:creationId xmlns:p14="http://schemas.microsoft.com/office/powerpoint/2010/main" val="3242801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53280-534C-CB00-9C66-F3719EE77F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DA85B9-FD53-0FEF-7EAF-4C4C3BDB92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7A0CC6-3E68-CD0F-91EA-CB23A5224AB9}"/>
              </a:ext>
            </a:extLst>
          </p:cNvPr>
          <p:cNvSpPr>
            <a:spLocks noGrp="1"/>
          </p:cNvSpPr>
          <p:nvPr>
            <p:ph type="dt" sz="half" idx="10"/>
          </p:nvPr>
        </p:nvSpPr>
        <p:spPr/>
        <p:txBody>
          <a:bodyPr/>
          <a:lstStyle/>
          <a:p>
            <a:fld id="{EC8FE81C-6319-4D41-8723-6B6AB38D551E}" type="datetimeFigureOut">
              <a:rPr lang="en-US" smtClean="0"/>
              <a:t>2/12/25</a:t>
            </a:fld>
            <a:endParaRPr lang="en-US"/>
          </a:p>
        </p:txBody>
      </p:sp>
      <p:sp>
        <p:nvSpPr>
          <p:cNvPr id="5" name="Footer Placeholder 4">
            <a:extLst>
              <a:ext uri="{FF2B5EF4-FFF2-40B4-BE49-F238E27FC236}">
                <a16:creationId xmlns:a16="http://schemas.microsoft.com/office/drawing/2014/main" id="{1F720190-E445-EC39-D00B-02721FB18A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EF68A0-5DEC-2A51-E893-727E277E6E52}"/>
              </a:ext>
            </a:extLst>
          </p:cNvPr>
          <p:cNvSpPr>
            <a:spLocks noGrp="1"/>
          </p:cNvSpPr>
          <p:nvPr>
            <p:ph type="sldNum" sz="quarter" idx="12"/>
          </p:nvPr>
        </p:nvSpPr>
        <p:spPr/>
        <p:txBody>
          <a:bodyPr/>
          <a:lstStyle/>
          <a:p>
            <a:fld id="{670D7C22-AC65-7B48-8A09-BC1C2E3F0975}" type="slidenum">
              <a:rPr lang="en-US" smtClean="0"/>
              <a:t>‹#›</a:t>
            </a:fld>
            <a:endParaRPr lang="en-US"/>
          </a:p>
        </p:txBody>
      </p:sp>
    </p:spTree>
    <p:extLst>
      <p:ext uri="{BB962C8B-B14F-4D97-AF65-F5344CB8AC3E}">
        <p14:creationId xmlns:p14="http://schemas.microsoft.com/office/powerpoint/2010/main" val="1833536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942D3-6AD7-9337-2213-29987EC116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F80CE8-A433-C87B-9D17-8DE947FF40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D5B57C-678A-3988-01A5-A23B417CB683}"/>
              </a:ext>
            </a:extLst>
          </p:cNvPr>
          <p:cNvSpPr>
            <a:spLocks noGrp="1"/>
          </p:cNvSpPr>
          <p:nvPr>
            <p:ph type="dt" sz="half" idx="10"/>
          </p:nvPr>
        </p:nvSpPr>
        <p:spPr/>
        <p:txBody>
          <a:bodyPr/>
          <a:lstStyle/>
          <a:p>
            <a:fld id="{EC8FE81C-6319-4D41-8723-6B6AB38D551E}" type="datetimeFigureOut">
              <a:rPr lang="en-US" smtClean="0"/>
              <a:t>2/12/25</a:t>
            </a:fld>
            <a:endParaRPr lang="en-US"/>
          </a:p>
        </p:txBody>
      </p:sp>
      <p:sp>
        <p:nvSpPr>
          <p:cNvPr id="5" name="Footer Placeholder 4">
            <a:extLst>
              <a:ext uri="{FF2B5EF4-FFF2-40B4-BE49-F238E27FC236}">
                <a16:creationId xmlns:a16="http://schemas.microsoft.com/office/drawing/2014/main" id="{BA89B761-B817-D3AD-A5FE-FD9AB04FFA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17EE71-DBFB-321C-2496-204C19EFA797}"/>
              </a:ext>
            </a:extLst>
          </p:cNvPr>
          <p:cNvSpPr>
            <a:spLocks noGrp="1"/>
          </p:cNvSpPr>
          <p:nvPr>
            <p:ph type="sldNum" sz="quarter" idx="12"/>
          </p:nvPr>
        </p:nvSpPr>
        <p:spPr/>
        <p:txBody>
          <a:bodyPr/>
          <a:lstStyle/>
          <a:p>
            <a:fld id="{670D7C22-AC65-7B48-8A09-BC1C2E3F0975}" type="slidenum">
              <a:rPr lang="en-US" smtClean="0"/>
              <a:t>‹#›</a:t>
            </a:fld>
            <a:endParaRPr lang="en-US"/>
          </a:p>
        </p:txBody>
      </p:sp>
    </p:spTree>
    <p:extLst>
      <p:ext uri="{BB962C8B-B14F-4D97-AF65-F5344CB8AC3E}">
        <p14:creationId xmlns:p14="http://schemas.microsoft.com/office/powerpoint/2010/main" val="116145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19DE7-6684-45DD-AC8D-A7D4070A5B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569624-CC13-C254-6893-514C2C602E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DB521C-0A04-9044-29EE-7700BE960DF9}"/>
              </a:ext>
            </a:extLst>
          </p:cNvPr>
          <p:cNvSpPr>
            <a:spLocks noGrp="1"/>
          </p:cNvSpPr>
          <p:nvPr>
            <p:ph type="dt" sz="half" idx="10"/>
          </p:nvPr>
        </p:nvSpPr>
        <p:spPr/>
        <p:txBody>
          <a:bodyPr/>
          <a:lstStyle/>
          <a:p>
            <a:fld id="{EC8FE81C-6319-4D41-8723-6B6AB38D551E}" type="datetimeFigureOut">
              <a:rPr lang="en-US" smtClean="0"/>
              <a:t>2/12/25</a:t>
            </a:fld>
            <a:endParaRPr lang="en-US"/>
          </a:p>
        </p:txBody>
      </p:sp>
      <p:sp>
        <p:nvSpPr>
          <p:cNvPr id="5" name="Footer Placeholder 4">
            <a:extLst>
              <a:ext uri="{FF2B5EF4-FFF2-40B4-BE49-F238E27FC236}">
                <a16:creationId xmlns:a16="http://schemas.microsoft.com/office/drawing/2014/main" id="{49304E30-9C22-9C05-4985-5779C2DBA8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EF5C2E-BAAB-DA57-FF4C-617D16D04C35}"/>
              </a:ext>
            </a:extLst>
          </p:cNvPr>
          <p:cNvSpPr>
            <a:spLocks noGrp="1"/>
          </p:cNvSpPr>
          <p:nvPr>
            <p:ph type="sldNum" sz="quarter" idx="12"/>
          </p:nvPr>
        </p:nvSpPr>
        <p:spPr/>
        <p:txBody>
          <a:bodyPr/>
          <a:lstStyle/>
          <a:p>
            <a:fld id="{670D7C22-AC65-7B48-8A09-BC1C2E3F0975}" type="slidenum">
              <a:rPr lang="en-US" smtClean="0"/>
              <a:t>‹#›</a:t>
            </a:fld>
            <a:endParaRPr lang="en-US"/>
          </a:p>
        </p:txBody>
      </p:sp>
    </p:spTree>
    <p:extLst>
      <p:ext uri="{BB962C8B-B14F-4D97-AF65-F5344CB8AC3E}">
        <p14:creationId xmlns:p14="http://schemas.microsoft.com/office/powerpoint/2010/main" val="1756264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5AB-D98C-E1A3-F476-F56E913D57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459511-FF85-AE79-3F39-E26579676A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9E9601-C07F-3B3C-0A63-4F7782806C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68E226-BFBC-AB70-9ACD-53ACD514D3A9}"/>
              </a:ext>
            </a:extLst>
          </p:cNvPr>
          <p:cNvSpPr>
            <a:spLocks noGrp="1"/>
          </p:cNvSpPr>
          <p:nvPr>
            <p:ph type="dt" sz="half" idx="10"/>
          </p:nvPr>
        </p:nvSpPr>
        <p:spPr/>
        <p:txBody>
          <a:bodyPr/>
          <a:lstStyle/>
          <a:p>
            <a:fld id="{EC8FE81C-6319-4D41-8723-6B6AB38D551E}" type="datetimeFigureOut">
              <a:rPr lang="en-US" smtClean="0"/>
              <a:t>2/12/25</a:t>
            </a:fld>
            <a:endParaRPr lang="en-US"/>
          </a:p>
        </p:txBody>
      </p:sp>
      <p:sp>
        <p:nvSpPr>
          <p:cNvPr id="6" name="Footer Placeholder 5">
            <a:extLst>
              <a:ext uri="{FF2B5EF4-FFF2-40B4-BE49-F238E27FC236}">
                <a16:creationId xmlns:a16="http://schemas.microsoft.com/office/drawing/2014/main" id="{2EBADA4A-65E0-A1E3-C8F5-C6B7F3A7AC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371377-3D49-AF65-ECEF-9F8C1F9F110A}"/>
              </a:ext>
            </a:extLst>
          </p:cNvPr>
          <p:cNvSpPr>
            <a:spLocks noGrp="1"/>
          </p:cNvSpPr>
          <p:nvPr>
            <p:ph type="sldNum" sz="quarter" idx="12"/>
          </p:nvPr>
        </p:nvSpPr>
        <p:spPr/>
        <p:txBody>
          <a:bodyPr/>
          <a:lstStyle/>
          <a:p>
            <a:fld id="{670D7C22-AC65-7B48-8A09-BC1C2E3F0975}" type="slidenum">
              <a:rPr lang="en-US" smtClean="0"/>
              <a:t>‹#›</a:t>
            </a:fld>
            <a:endParaRPr lang="en-US"/>
          </a:p>
        </p:txBody>
      </p:sp>
    </p:spTree>
    <p:extLst>
      <p:ext uri="{BB962C8B-B14F-4D97-AF65-F5344CB8AC3E}">
        <p14:creationId xmlns:p14="http://schemas.microsoft.com/office/powerpoint/2010/main" val="3044420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A8D59-B974-12C6-1C02-E88BEB5285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0044A4-C4F3-5AE5-4A45-D1D722B75F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2B11DC-E240-BCC8-FB5A-E8ABFBCE44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19A5DE-CA41-1322-8816-B12867E451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57BF55-C6D8-2AA4-2F81-F00101771D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B5D591-1886-439D-35CC-BFFCEB2F87F0}"/>
              </a:ext>
            </a:extLst>
          </p:cNvPr>
          <p:cNvSpPr>
            <a:spLocks noGrp="1"/>
          </p:cNvSpPr>
          <p:nvPr>
            <p:ph type="dt" sz="half" idx="10"/>
          </p:nvPr>
        </p:nvSpPr>
        <p:spPr/>
        <p:txBody>
          <a:bodyPr/>
          <a:lstStyle/>
          <a:p>
            <a:fld id="{EC8FE81C-6319-4D41-8723-6B6AB38D551E}" type="datetimeFigureOut">
              <a:rPr lang="en-US" smtClean="0"/>
              <a:t>2/12/25</a:t>
            </a:fld>
            <a:endParaRPr lang="en-US"/>
          </a:p>
        </p:txBody>
      </p:sp>
      <p:sp>
        <p:nvSpPr>
          <p:cNvPr id="8" name="Footer Placeholder 7">
            <a:extLst>
              <a:ext uri="{FF2B5EF4-FFF2-40B4-BE49-F238E27FC236}">
                <a16:creationId xmlns:a16="http://schemas.microsoft.com/office/drawing/2014/main" id="{ED636ED9-BE17-BB9B-ABCE-C97749BEFFA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8022B11-4624-AB57-303F-3B48AC711B8F}"/>
              </a:ext>
            </a:extLst>
          </p:cNvPr>
          <p:cNvSpPr>
            <a:spLocks noGrp="1"/>
          </p:cNvSpPr>
          <p:nvPr>
            <p:ph type="sldNum" sz="quarter" idx="12"/>
          </p:nvPr>
        </p:nvSpPr>
        <p:spPr/>
        <p:txBody>
          <a:bodyPr/>
          <a:lstStyle/>
          <a:p>
            <a:fld id="{670D7C22-AC65-7B48-8A09-BC1C2E3F0975}" type="slidenum">
              <a:rPr lang="en-US" smtClean="0"/>
              <a:t>‹#›</a:t>
            </a:fld>
            <a:endParaRPr lang="en-US"/>
          </a:p>
        </p:txBody>
      </p:sp>
    </p:spTree>
    <p:extLst>
      <p:ext uri="{BB962C8B-B14F-4D97-AF65-F5344CB8AC3E}">
        <p14:creationId xmlns:p14="http://schemas.microsoft.com/office/powerpoint/2010/main" val="2990100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3253C-B991-3BE2-1173-1A36CE4E56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BF1B78-613B-45C6-A95E-81EBDD3F620E}"/>
              </a:ext>
            </a:extLst>
          </p:cNvPr>
          <p:cNvSpPr>
            <a:spLocks noGrp="1"/>
          </p:cNvSpPr>
          <p:nvPr>
            <p:ph type="dt" sz="half" idx="10"/>
          </p:nvPr>
        </p:nvSpPr>
        <p:spPr/>
        <p:txBody>
          <a:bodyPr/>
          <a:lstStyle/>
          <a:p>
            <a:fld id="{EC8FE81C-6319-4D41-8723-6B6AB38D551E}" type="datetimeFigureOut">
              <a:rPr lang="en-US" smtClean="0"/>
              <a:t>2/12/25</a:t>
            </a:fld>
            <a:endParaRPr lang="en-US"/>
          </a:p>
        </p:txBody>
      </p:sp>
      <p:sp>
        <p:nvSpPr>
          <p:cNvPr id="4" name="Footer Placeholder 3">
            <a:extLst>
              <a:ext uri="{FF2B5EF4-FFF2-40B4-BE49-F238E27FC236}">
                <a16:creationId xmlns:a16="http://schemas.microsoft.com/office/drawing/2014/main" id="{4E209AB5-F006-6D96-F354-D81803B1BF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B43FA8-9651-787D-51A3-E8645B7F1A14}"/>
              </a:ext>
            </a:extLst>
          </p:cNvPr>
          <p:cNvSpPr>
            <a:spLocks noGrp="1"/>
          </p:cNvSpPr>
          <p:nvPr>
            <p:ph type="sldNum" sz="quarter" idx="12"/>
          </p:nvPr>
        </p:nvSpPr>
        <p:spPr/>
        <p:txBody>
          <a:bodyPr/>
          <a:lstStyle/>
          <a:p>
            <a:fld id="{670D7C22-AC65-7B48-8A09-BC1C2E3F0975}" type="slidenum">
              <a:rPr lang="en-US" smtClean="0"/>
              <a:t>‹#›</a:t>
            </a:fld>
            <a:endParaRPr lang="en-US"/>
          </a:p>
        </p:txBody>
      </p:sp>
    </p:spTree>
    <p:extLst>
      <p:ext uri="{BB962C8B-B14F-4D97-AF65-F5344CB8AC3E}">
        <p14:creationId xmlns:p14="http://schemas.microsoft.com/office/powerpoint/2010/main" val="88237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57BBBC-32F4-2C64-0E49-C7397C32DD65}"/>
              </a:ext>
            </a:extLst>
          </p:cNvPr>
          <p:cNvSpPr>
            <a:spLocks noGrp="1"/>
          </p:cNvSpPr>
          <p:nvPr>
            <p:ph type="dt" sz="half" idx="10"/>
          </p:nvPr>
        </p:nvSpPr>
        <p:spPr/>
        <p:txBody>
          <a:bodyPr/>
          <a:lstStyle/>
          <a:p>
            <a:fld id="{EC8FE81C-6319-4D41-8723-6B6AB38D551E}" type="datetimeFigureOut">
              <a:rPr lang="en-US" smtClean="0"/>
              <a:t>2/12/25</a:t>
            </a:fld>
            <a:endParaRPr lang="en-US"/>
          </a:p>
        </p:txBody>
      </p:sp>
      <p:sp>
        <p:nvSpPr>
          <p:cNvPr id="3" name="Footer Placeholder 2">
            <a:extLst>
              <a:ext uri="{FF2B5EF4-FFF2-40B4-BE49-F238E27FC236}">
                <a16:creationId xmlns:a16="http://schemas.microsoft.com/office/drawing/2014/main" id="{CF84D9CD-1B59-6B71-7EF6-F851BDC13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CCA1FC-F3A2-57A6-73E3-9A464FC44A33}"/>
              </a:ext>
            </a:extLst>
          </p:cNvPr>
          <p:cNvSpPr>
            <a:spLocks noGrp="1"/>
          </p:cNvSpPr>
          <p:nvPr>
            <p:ph type="sldNum" sz="quarter" idx="12"/>
          </p:nvPr>
        </p:nvSpPr>
        <p:spPr/>
        <p:txBody>
          <a:bodyPr/>
          <a:lstStyle/>
          <a:p>
            <a:fld id="{670D7C22-AC65-7B48-8A09-BC1C2E3F0975}" type="slidenum">
              <a:rPr lang="en-US" smtClean="0"/>
              <a:t>‹#›</a:t>
            </a:fld>
            <a:endParaRPr lang="en-US"/>
          </a:p>
        </p:txBody>
      </p:sp>
    </p:spTree>
    <p:extLst>
      <p:ext uri="{BB962C8B-B14F-4D97-AF65-F5344CB8AC3E}">
        <p14:creationId xmlns:p14="http://schemas.microsoft.com/office/powerpoint/2010/main" val="1864975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F8275-9E64-FF00-0CE7-5097CC110F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8A2482F-1B63-8F50-025D-5CDC8D9645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C7B573-E44B-E602-F889-805407C47C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DBD7C4-C9BB-9B55-BDDB-6EFCA556450A}"/>
              </a:ext>
            </a:extLst>
          </p:cNvPr>
          <p:cNvSpPr>
            <a:spLocks noGrp="1"/>
          </p:cNvSpPr>
          <p:nvPr>
            <p:ph type="dt" sz="half" idx="10"/>
          </p:nvPr>
        </p:nvSpPr>
        <p:spPr/>
        <p:txBody>
          <a:bodyPr/>
          <a:lstStyle/>
          <a:p>
            <a:fld id="{EC8FE81C-6319-4D41-8723-6B6AB38D551E}" type="datetimeFigureOut">
              <a:rPr lang="en-US" smtClean="0"/>
              <a:t>2/12/25</a:t>
            </a:fld>
            <a:endParaRPr lang="en-US"/>
          </a:p>
        </p:txBody>
      </p:sp>
      <p:sp>
        <p:nvSpPr>
          <p:cNvPr id="6" name="Footer Placeholder 5">
            <a:extLst>
              <a:ext uri="{FF2B5EF4-FFF2-40B4-BE49-F238E27FC236}">
                <a16:creationId xmlns:a16="http://schemas.microsoft.com/office/drawing/2014/main" id="{60D945A4-C1C3-196D-BA0C-796FB9D47F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595986-0CDF-B337-65CD-B4F8D6927D36}"/>
              </a:ext>
            </a:extLst>
          </p:cNvPr>
          <p:cNvSpPr>
            <a:spLocks noGrp="1"/>
          </p:cNvSpPr>
          <p:nvPr>
            <p:ph type="sldNum" sz="quarter" idx="12"/>
          </p:nvPr>
        </p:nvSpPr>
        <p:spPr/>
        <p:txBody>
          <a:bodyPr/>
          <a:lstStyle/>
          <a:p>
            <a:fld id="{670D7C22-AC65-7B48-8A09-BC1C2E3F0975}" type="slidenum">
              <a:rPr lang="en-US" smtClean="0"/>
              <a:t>‹#›</a:t>
            </a:fld>
            <a:endParaRPr lang="en-US"/>
          </a:p>
        </p:txBody>
      </p:sp>
    </p:spTree>
    <p:extLst>
      <p:ext uri="{BB962C8B-B14F-4D97-AF65-F5344CB8AC3E}">
        <p14:creationId xmlns:p14="http://schemas.microsoft.com/office/powerpoint/2010/main" val="4282415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9AA23-3E7E-0EDD-1287-CCD0ED1638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61C1CE-4D9E-9763-EBBC-8626F386BF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D98F42-2CBF-39E6-3FBE-1A49E9C21F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AB9C5E-688A-F9E4-2BE7-4A9BED93A599}"/>
              </a:ext>
            </a:extLst>
          </p:cNvPr>
          <p:cNvSpPr>
            <a:spLocks noGrp="1"/>
          </p:cNvSpPr>
          <p:nvPr>
            <p:ph type="dt" sz="half" idx="10"/>
          </p:nvPr>
        </p:nvSpPr>
        <p:spPr/>
        <p:txBody>
          <a:bodyPr/>
          <a:lstStyle/>
          <a:p>
            <a:fld id="{EC8FE81C-6319-4D41-8723-6B6AB38D551E}" type="datetimeFigureOut">
              <a:rPr lang="en-US" smtClean="0"/>
              <a:t>2/12/25</a:t>
            </a:fld>
            <a:endParaRPr lang="en-US"/>
          </a:p>
        </p:txBody>
      </p:sp>
      <p:sp>
        <p:nvSpPr>
          <p:cNvPr id="6" name="Footer Placeholder 5">
            <a:extLst>
              <a:ext uri="{FF2B5EF4-FFF2-40B4-BE49-F238E27FC236}">
                <a16:creationId xmlns:a16="http://schemas.microsoft.com/office/drawing/2014/main" id="{2BCE776B-9780-B78E-5D78-2DA4B85993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155E0E-43BF-EB34-5A93-67275D71D1EB}"/>
              </a:ext>
            </a:extLst>
          </p:cNvPr>
          <p:cNvSpPr>
            <a:spLocks noGrp="1"/>
          </p:cNvSpPr>
          <p:nvPr>
            <p:ph type="sldNum" sz="quarter" idx="12"/>
          </p:nvPr>
        </p:nvSpPr>
        <p:spPr/>
        <p:txBody>
          <a:bodyPr/>
          <a:lstStyle/>
          <a:p>
            <a:fld id="{670D7C22-AC65-7B48-8A09-BC1C2E3F0975}" type="slidenum">
              <a:rPr lang="en-US" smtClean="0"/>
              <a:t>‹#›</a:t>
            </a:fld>
            <a:endParaRPr lang="en-US"/>
          </a:p>
        </p:txBody>
      </p:sp>
    </p:spTree>
    <p:extLst>
      <p:ext uri="{BB962C8B-B14F-4D97-AF65-F5344CB8AC3E}">
        <p14:creationId xmlns:p14="http://schemas.microsoft.com/office/powerpoint/2010/main" val="2696366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5AC43-D5EF-9A48-142E-401E381851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111B64-E5F4-148B-5337-70170D354A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C4188-9618-1B9E-E163-41A09DCF64CF}"/>
              </a:ext>
            </a:extLst>
          </p:cNvPr>
          <p:cNvSpPr>
            <a:spLocks noGrp="1"/>
          </p:cNvSpPr>
          <p:nvPr>
            <p:ph type="dt" sz="half" idx="10"/>
          </p:nvPr>
        </p:nvSpPr>
        <p:spPr/>
        <p:txBody>
          <a:bodyPr/>
          <a:lstStyle/>
          <a:p>
            <a:fld id="{EC8FE81C-6319-4D41-8723-6B6AB38D551E}" type="datetimeFigureOut">
              <a:rPr lang="en-US" smtClean="0"/>
              <a:t>2/12/25</a:t>
            </a:fld>
            <a:endParaRPr lang="en-US"/>
          </a:p>
        </p:txBody>
      </p:sp>
      <p:sp>
        <p:nvSpPr>
          <p:cNvPr id="5" name="Footer Placeholder 4">
            <a:extLst>
              <a:ext uri="{FF2B5EF4-FFF2-40B4-BE49-F238E27FC236}">
                <a16:creationId xmlns:a16="http://schemas.microsoft.com/office/drawing/2014/main" id="{CF6B862E-E31E-64C6-E0DA-5BA56BF188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908976-F849-6D53-FB15-259309AD50A7}"/>
              </a:ext>
            </a:extLst>
          </p:cNvPr>
          <p:cNvSpPr>
            <a:spLocks noGrp="1"/>
          </p:cNvSpPr>
          <p:nvPr>
            <p:ph type="sldNum" sz="quarter" idx="12"/>
          </p:nvPr>
        </p:nvSpPr>
        <p:spPr/>
        <p:txBody>
          <a:bodyPr/>
          <a:lstStyle/>
          <a:p>
            <a:fld id="{670D7C22-AC65-7B48-8A09-BC1C2E3F0975}" type="slidenum">
              <a:rPr lang="en-US" smtClean="0"/>
              <a:t>‹#›</a:t>
            </a:fld>
            <a:endParaRPr lang="en-US"/>
          </a:p>
        </p:txBody>
      </p:sp>
    </p:spTree>
    <p:extLst>
      <p:ext uri="{BB962C8B-B14F-4D97-AF65-F5344CB8AC3E}">
        <p14:creationId xmlns:p14="http://schemas.microsoft.com/office/powerpoint/2010/main" val="2423430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CC022C-B56C-F026-6370-548ADDCC2E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9C144B2-5423-3861-6FF9-0A34B843DA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D437D1-A133-B987-05AA-1E774DBAFC34}"/>
              </a:ext>
            </a:extLst>
          </p:cNvPr>
          <p:cNvSpPr>
            <a:spLocks noGrp="1"/>
          </p:cNvSpPr>
          <p:nvPr>
            <p:ph type="dt" sz="half" idx="10"/>
          </p:nvPr>
        </p:nvSpPr>
        <p:spPr/>
        <p:txBody>
          <a:bodyPr/>
          <a:lstStyle/>
          <a:p>
            <a:fld id="{EC8FE81C-6319-4D41-8723-6B6AB38D551E}" type="datetimeFigureOut">
              <a:rPr lang="en-US" smtClean="0"/>
              <a:t>2/12/25</a:t>
            </a:fld>
            <a:endParaRPr lang="en-US"/>
          </a:p>
        </p:txBody>
      </p:sp>
      <p:sp>
        <p:nvSpPr>
          <p:cNvPr id="5" name="Footer Placeholder 4">
            <a:extLst>
              <a:ext uri="{FF2B5EF4-FFF2-40B4-BE49-F238E27FC236}">
                <a16:creationId xmlns:a16="http://schemas.microsoft.com/office/drawing/2014/main" id="{D5095332-1586-51C5-67EC-C87BF78E65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59843D-2E86-B132-892D-042038CA5C7B}"/>
              </a:ext>
            </a:extLst>
          </p:cNvPr>
          <p:cNvSpPr>
            <a:spLocks noGrp="1"/>
          </p:cNvSpPr>
          <p:nvPr>
            <p:ph type="sldNum" sz="quarter" idx="12"/>
          </p:nvPr>
        </p:nvSpPr>
        <p:spPr/>
        <p:txBody>
          <a:bodyPr/>
          <a:lstStyle/>
          <a:p>
            <a:fld id="{670D7C22-AC65-7B48-8A09-BC1C2E3F0975}" type="slidenum">
              <a:rPr lang="en-US" smtClean="0"/>
              <a:t>‹#›</a:t>
            </a:fld>
            <a:endParaRPr lang="en-US"/>
          </a:p>
        </p:txBody>
      </p:sp>
    </p:spTree>
    <p:extLst>
      <p:ext uri="{BB962C8B-B14F-4D97-AF65-F5344CB8AC3E}">
        <p14:creationId xmlns:p14="http://schemas.microsoft.com/office/powerpoint/2010/main" val="3623099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E3CB4F-0E71-3FE8-F045-205C511CB2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185EFB-0949-4BA6-4EA5-D1D0169DFD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E39DBA-2D5B-72E6-0F56-80080CCF15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8FE81C-6319-4D41-8723-6B6AB38D551E}" type="datetimeFigureOut">
              <a:rPr lang="en-US" smtClean="0"/>
              <a:t>2/12/25</a:t>
            </a:fld>
            <a:endParaRPr lang="en-US"/>
          </a:p>
        </p:txBody>
      </p:sp>
      <p:sp>
        <p:nvSpPr>
          <p:cNvPr id="5" name="Footer Placeholder 4">
            <a:extLst>
              <a:ext uri="{FF2B5EF4-FFF2-40B4-BE49-F238E27FC236}">
                <a16:creationId xmlns:a16="http://schemas.microsoft.com/office/drawing/2014/main" id="{06DC2994-833F-9F78-B3A5-10CE519366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7163B2F-13B0-EE04-4C7B-9EF691750B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D7C22-AC65-7B48-8A09-BC1C2E3F0975}" type="slidenum">
              <a:rPr lang="en-US" smtClean="0"/>
              <a:t>‹#›</a:t>
            </a:fld>
            <a:endParaRPr lang="en-US"/>
          </a:p>
        </p:txBody>
      </p:sp>
    </p:spTree>
    <p:extLst>
      <p:ext uri="{BB962C8B-B14F-4D97-AF65-F5344CB8AC3E}">
        <p14:creationId xmlns:p14="http://schemas.microsoft.com/office/powerpoint/2010/main" val="1038369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5B8F8-6520-18CE-0A26-850173AC0461}"/>
              </a:ext>
            </a:extLst>
          </p:cNvPr>
          <p:cNvSpPr>
            <a:spLocks noGrp="1"/>
          </p:cNvSpPr>
          <p:nvPr>
            <p:ph type="ctrTitle"/>
          </p:nvPr>
        </p:nvSpPr>
        <p:spPr/>
        <p:txBody>
          <a:bodyPr/>
          <a:lstStyle/>
          <a:p>
            <a:r>
              <a:rPr lang="en-US" dirty="0" err="1"/>
              <a:t>Pengantar</a:t>
            </a:r>
            <a:r>
              <a:rPr lang="en-US" dirty="0"/>
              <a:t> Software Design</a:t>
            </a:r>
          </a:p>
        </p:txBody>
      </p:sp>
      <p:sp>
        <p:nvSpPr>
          <p:cNvPr id="3" name="Subtitle 2">
            <a:extLst>
              <a:ext uri="{FF2B5EF4-FFF2-40B4-BE49-F238E27FC236}">
                <a16:creationId xmlns:a16="http://schemas.microsoft.com/office/drawing/2014/main" id="{B6316FCE-8C33-33B7-D67E-244B5796E3E0}"/>
              </a:ext>
            </a:extLst>
          </p:cNvPr>
          <p:cNvSpPr>
            <a:spLocks noGrp="1"/>
          </p:cNvSpPr>
          <p:nvPr>
            <p:ph type="subTitle" idx="1"/>
          </p:nvPr>
        </p:nvSpPr>
        <p:spPr/>
        <p:txBody>
          <a:bodyPr>
            <a:normAutofit lnSpcReduction="10000"/>
          </a:bodyPr>
          <a:lstStyle/>
          <a:p>
            <a:r>
              <a:rPr lang="en-US" dirty="0"/>
              <a:t>SWEBOK V4</a:t>
            </a:r>
          </a:p>
          <a:p>
            <a:endParaRPr lang="en-US" dirty="0"/>
          </a:p>
          <a:p>
            <a:r>
              <a:rPr lang="en-US" dirty="0"/>
              <a:t>Dana S. </a:t>
            </a:r>
            <a:r>
              <a:rPr lang="en-US" dirty="0" err="1"/>
              <a:t>Kusumo</a:t>
            </a:r>
            <a:endParaRPr lang="en-US" dirty="0"/>
          </a:p>
          <a:p>
            <a:r>
              <a:rPr lang="en-US" dirty="0" err="1"/>
              <a:t>Versi</a:t>
            </a:r>
            <a:r>
              <a:rPr lang="en-US"/>
              <a:t> 2- Feb 2025</a:t>
            </a:r>
            <a:endParaRPr lang="en-US" dirty="0"/>
          </a:p>
        </p:txBody>
      </p:sp>
    </p:spTree>
    <p:extLst>
      <p:ext uri="{BB962C8B-B14F-4D97-AF65-F5344CB8AC3E}">
        <p14:creationId xmlns:p14="http://schemas.microsoft.com/office/powerpoint/2010/main" val="3758509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D6A37-2095-0A61-5144-5EBEBF2A9E8D}"/>
              </a:ext>
            </a:extLst>
          </p:cNvPr>
          <p:cNvSpPr>
            <a:spLocks noGrp="1"/>
          </p:cNvSpPr>
          <p:nvPr>
            <p:ph type="title"/>
          </p:nvPr>
        </p:nvSpPr>
        <p:spPr/>
        <p:txBody>
          <a:bodyPr/>
          <a:lstStyle/>
          <a:p>
            <a:r>
              <a:rPr lang="en-US" dirty="0" err="1"/>
              <a:t>Pengantar</a:t>
            </a:r>
            <a:endParaRPr lang="en-US" dirty="0"/>
          </a:p>
        </p:txBody>
      </p:sp>
      <p:sp>
        <p:nvSpPr>
          <p:cNvPr id="3" name="Content Placeholder 2">
            <a:extLst>
              <a:ext uri="{FF2B5EF4-FFF2-40B4-BE49-F238E27FC236}">
                <a16:creationId xmlns:a16="http://schemas.microsoft.com/office/drawing/2014/main" id="{C61858B6-7DDC-271F-B991-D4152B6C5E10}"/>
              </a:ext>
            </a:extLst>
          </p:cNvPr>
          <p:cNvSpPr>
            <a:spLocks noGrp="1"/>
          </p:cNvSpPr>
          <p:nvPr>
            <p:ph idx="1"/>
          </p:nvPr>
        </p:nvSpPr>
        <p:spPr/>
        <p:txBody>
          <a:bodyPr>
            <a:normAutofit/>
          </a:bodyPr>
          <a:lstStyle/>
          <a:p>
            <a:r>
              <a:rPr lang="en-ID" sz="1800" dirty="0">
                <a:effectLst/>
                <a:latin typeface="TimesNewRomanPSMT"/>
              </a:rPr>
              <a:t>Software design, viewed as a life cycle activity, is the application of software engineering discipline in which software requirements are </a:t>
            </a:r>
            <a:r>
              <a:rPr lang="en-ID" sz="1800" dirty="0" err="1">
                <a:effectLst/>
                <a:latin typeface="TimesNewRomanPSMT"/>
              </a:rPr>
              <a:t>analyzed</a:t>
            </a:r>
            <a:r>
              <a:rPr lang="en-ID" sz="1800" dirty="0">
                <a:effectLst/>
                <a:latin typeface="TimesNewRomanPSMT"/>
              </a:rPr>
              <a:t> to define the software’s external characteristics and internal structure as the basis for the software’s construction. </a:t>
            </a:r>
            <a:endParaRPr lang="en-ID" dirty="0"/>
          </a:p>
          <a:p>
            <a:r>
              <a:rPr lang="en-ID" sz="1800" dirty="0">
                <a:effectLst/>
                <a:latin typeface="TimesNewRomanPSMT"/>
              </a:rPr>
              <a:t>A </a:t>
            </a:r>
            <a:r>
              <a:rPr lang="en-ID" sz="1800" i="1" dirty="0">
                <a:effectLst/>
                <a:latin typeface="TimesNewRomanPS"/>
              </a:rPr>
              <a:t>software design description </a:t>
            </a:r>
            <a:r>
              <a:rPr lang="en-ID" sz="1800" dirty="0">
                <a:effectLst/>
                <a:latin typeface="TimesNewRomanPSMT"/>
              </a:rPr>
              <a:t>(SDD) documents the result of software design. It is a “representation of software created to facilitate analysis, planning, implementation, and decision- making. The software design description is used as a medium for communicating software design information and can be thought of as a blueprint or model of the system” [10]. </a:t>
            </a:r>
            <a:endParaRPr lang="en-ID" dirty="0"/>
          </a:p>
          <a:p>
            <a:r>
              <a:rPr lang="en-ID" sz="1800" dirty="0">
                <a:effectLst/>
                <a:latin typeface="TimesNewRomanPSMT"/>
              </a:rPr>
              <a:t>The SDD, which may take many forms, encompasses the refinement of that software into components, the organization of those components, and the definition of interfaces among them and between the software and the outside world—to a level of detail that enables their construction. </a:t>
            </a:r>
            <a:endParaRPr lang="en-ID" dirty="0"/>
          </a:p>
          <a:p>
            <a:r>
              <a:rPr lang="en-ID" sz="1800" dirty="0">
                <a:effectLst/>
                <a:latin typeface="TimesNewRomanPSMT"/>
              </a:rPr>
              <a:t>Software design takes place in three stages: </a:t>
            </a:r>
            <a:endParaRPr lang="en-ID" dirty="0"/>
          </a:p>
          <a:p>
            <a:pPr lvl="1"/>
            <a:r>
              <a:rPr lang="en-ID" sz="1400" dirty="0">
                <a:effectLst/>
                <a:latin typeface="TimesNewRomanPSMT"/>
              </a:rPr>
              <a:t>architectural design of the software system </a:t>
            </a:r>
            <a:endParaRPr lang="en-ID" dirty="0"/>
          </a:p>
          <a:p>
            <a:pPr lvl="1"/>
            <a:r>
              <a:rPr lang="en-ID" sz="1400" dirty="0">
                <a:effectLst/>
                <a:latin typeface="TimesNewRomanPSMT"/>
              </a:rPr>
              <a:t>high-level or external-facing design of the system and its components </a:t>
            </a:r>
            <a:endParaRPr lang="en-ID" dirty="0"/>
          </a:p>
          <a:p>
            <a:pPr lvl="1"/>
            <a:r>
              <a:rPr lang="en-ID" sz="1400" dirty="0">
                <a:effectLst/>
                <a:latin typeface="TimesNewRomanPSMT"/>
              </a:rPr>
              <a:t>detailed or internal-facing design</a:t>
            </a:r>
            <a:br>
              <a:rPr lang="en-ID" sz="1400" dirty="0">
                <a:effectLst/>
                <a:latin typeface="TimesNewRomanPSMT"/>
              </a:rPr>
            </a:br>
            <a:endParaRPr lang="en-ID" dirty="0"/>
          </a:p>
          <a:p>
            <a:endParaRPr lang="en-US" dirty="0"/>
          </a:p>
        </p:txBody>
      </p:sp>
    </p:spTree>
    <p:extLst>
      <p:ext uri="{BB962C8B-B14F-4D97-AF65-F5344CB8AC3E}">
        <p14:creationId xmlns:p14="http://schemas.microsoft.com/office/powerpoint/2010/main" val="2880356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8710F-3867-748A-4053-B80FB8D4EF4B}"/>
              </a:ext>
            </a:extLst>
          </p:cNvPr>
          <p:cNvSpPr>
            <a:spLocks noGrp="1"/>
          </p:cNvSpPr>
          <p:nvPr>
            <p:ph type="title"/>
          </p:nvPr>
        </p:nvSpPr>
        <p:spPr/>
        <p:txBody>
          <a:bodyPr/>
          <a:lstStyle/>
          <a:p>
            <a:r>
              <a:rPr lang="en-US" dirty="0" err="1"/>
              <a:t>Pengantar</a:t>
            </a:r>
            <a:endParaRPr lang="en-US" dirty="0"/>
          </a:p>
        </p:txBody>
      </p:sp>
      <p:sp>
        <p:nvSpPr>
          <p:cNvPr id="3" name="Content Placeholder 2">
            <a:extLst>
              <a:ext uri="{FF2B5EF4-FFF2-40B4-BE49-F238E27FC236}">
                <a16:creationId xmlns:a16="http://schemas.microsoft.com/office/drawing/2014/main" id="{E14DC363-DBA3-E8A1-7D3F-240DAC8BBA94}"/>
              </a:ext>
            </a:extLst>
          </p:cNvPr>
          <p:cNvSpPr>
            <a:spLocks noGrp="1"/>
          </p:cNvSpPr>
          <p:nvPr>
            <p:ph idx="1"/>
          </p:nvPr>
        </p:nvSpPr>
        <p:spPr/>
        <p:txBody>
          <a:bodyPr/>
          <a:lstStyle/>
          <a:p>
            <a:pPr marL="0" indent="0">
              <a:buNone/>
            </a:pPr>
            <a:r>
              <a:rPr lang="en-ID" sz="1800" dirty="0">
                <a:effectLst/>
                <a:latin typeface="TimesNewRomanPSMT"/>
              </a:rPr>
              <a:t>Software design is the transformation of customer and other requirements, needs, and concerns into implementable design specifications. </a:t>
            </a:r>
          </a:p>
          <a:p>
            <a:pPr marL="0" indent="0">
              <a:buNone/>
            </a:pPr>
            <a:r>
              <a:rPr lang="en-ID" sz="1800" dirty="0">
                <a:effectLst/>
                <a:latin typeface="TimesNewRomanPSMT"/>
              </a:rPr>
              <a:t>Its contexts include the following: </a:t>
            </a:r>
            <a:endParaRPr lang="en-ID" dirty="0"/>
          </a:p>
          <a:p>
            <a:pPr>
              <a:buFont typeface="Arial" panose="020B0604020202020204" pitchFamily="34" charset="0"/>
              <a:buChar char="•"/>
            </a:pPr>
            <a:r>
              <a:rPr lang="en-ID" sz="1800" dirty="0">
                <a:effectLst/>
                <a:latin typeface="TimesNewRomanPSMT"/>
              </a:rPr>
              <a:t>Design interface with software requirements: The requirements establish a set of problems that the software design must solve. </a:t>
            </a:r>
            <a:endParaRPr lang="en-ID" sz="1800" dirty="0">
              <a:effectLst/>
              <a:latin typeface="SymbolMT"/>
            </a:endParaRPr>
          </a:p>
          <a:p>
            <a:pPr>
              <a:buFont typeface="Arial" panose="020B0604020202020204" pitchFamily="34" charset="0"/>
              <a:buChar char="•"/>
            </a:pPr>
            <a:r>
              <a:rPr lang="en-ID" sz="1800" dirty="0">
                <a:effectLst/>
                <a:latin typeface="TimesNewRomanPSMT"/>
              </a:rPr>
              <a:t>Design interface with software architecture: In cases where an architecture has been established, that architecture constrains the design by capturing fundamental aspects of the system: its major components and their interconnections, application programming interfaces (APIs), styles and patterns to be used, and architectural principles to be observed and enforced. </a:t>
            </a:r>
            <a:endParaRPr lang="en-ID" sz="1800" dirty="0">
              <a:effectLst/>
              <a:latin typeface="SymbolMT"/>
            </a:endParaRPr>
          </a:p>
          <a:p>
            <a:r>
              <a:rPr lang="en-ID" sz="1800" dirty="0">
                <a:effectLst/>
                <a:latin typeface="TimesNewRomanPSMT"/>
              </a:rPr>
              <a:t>Design interface with software construction: The software design must provide a guide to implementors on building the system. </a:t>
            </a:r>
            <a:endParaRPr lang="en-ID" dirty="0"/>
          </a:p>
          <a:p>
            <a:r>
              <a:rPr lang="en-ID" sz="1800" dirty="0">
                <a:effectLst/>
                <a:latin typeface="TimesNewRomanPSMT"/>
              </a:rPr>
              <a:t>Design interface with software testing: Software design provides a foundation for an overall testing strategy and test cases that ensure that the design is properly implemented and operates as intended. </a:t>
            </a:r>
            <a:endParaRPr lang="en-ID" dirty="0"/>
          </a:p>
          <a:p>
            <a:endParaRPr lang="en-US" dirty="0"/>
          </a:p>
        </p:txBody>
      </p:sp>
    </p:spTree>
    <p:extLst>
      <p:ext uri="{BB962C8B-B14F-4D97-AF65-F5344CB8AC3E}">
        <p14:creationId xmlns:p14="http://schemas.microsoft.com/office/powerpoint/2010/main" val="378121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CBA4D-3D70-1C41-2096-BC35801BB8F6}"/>
              </a:ext>
            </a:extLst>
          </p:cNvPr>
          <p:cNvSpPr>
            <a:spLocks noGrp="1"/>
          </p:cNvSpPr>
          <p:nvPr>
            <p:ph type="title"/>
          </p:nvPr>
        </p:nvSpPr>
        <p:spPr/>
        <p:txBody>
          <a:bodyPr/>
          <a:lstStyle/>
          <a:p>
            <a:r>
              <a:rPr lang="en-US" dirty="0"/>
              <a:t>Stages/Phases of Software Design Process</a:t>
            </a:r>
          </a:p>
        </p:txBody>
      </p:sp>
      <p:sp>
        <p:nvSpPr>
          <p:cNvPr id="3" name="Content Placeholder 2">
            <a:extLst>
              <a:ext uri="{FF2B5EF4-FFF2-40B4-BE49-F238E27FC236}">
                <a16:creationId xmlns:a16="http://schemas.microsoft.com/office/drawing/2014/main" id="{3EF077A8-42EE-FBF9-EB6F-8C40AE501D69}"/>
              </a:ext>
            </a:extLst>
          </p:cNvPr>
          <p:cNvSpPr>
            <a:spLocks noGrp="1"/>
          </p:cNvSpPr>
          <p:nvPr>
            <p:ph idx="1"/>
          </p:nvPr>
        </p:nvSpPr>
        <p:spPr/>
        <p:txBody>
          <a:bodyPr>
            <a:normAutofit/>
          </a:bodyPr>
          <a:lstStyle/>
          <a:p>
            <a:pPr marL="0" indent="0">
              <a:buNone/>
            </a:pPr>
            <a:endParaRPr lang="en-ID" sz="1800" dirty="0">
              <a:latin typeface="TimesNewRomanPSMT"/>
            </a:endParaRPr>
          </a:p>
          <a:p>
            <a:pPr>
              <a:buFont typeface="+mj-lt"/>
              <a:buAutoNum type="arabicPeriod"/>
            </a:pPr>
            <a:r>
              <a:rPr lang="en-ID" sz="1800" dirty="0">
                <a:effectLst/>
                <a:latin typeface="TimesNewRomanPSMT"/>
              </a:rPr>
              <a:t>The </a:t>
            </a:r>
            <a:r>
              <a:rPr lang="en-ID" sz="1800" b="1" dirty="0">
                <a:effectLst/>
                <a:latin typeface="TimesNewRomanPSMT"/>
              </a:rPr>
              <a:t>architectural design stage </a:t>
            </a:r>
            <a:r>
              <a:rPr lang="en-ID" sz="1800" dirty="0">
                <a:effectLst/>
                <a:latin typeface="TimesNewRomanPSMT"/>
              </a:rPr>
              <a:t>addresses the fundamentals of the system as a whole and situated in its environment (see </a:t>
            </a:r>
            <a:r>
              <a:rPr lang="en-ID" sz="1800" dirty="0">
                <a:solidFill>
                  <a:srgbClr val="0230FF"/>
                </a:solidFill>
                <a:effectLst/>
                <a:latin typeface="TimesNewRomanPSMT"/>
              </a:rPr>
              <a:t>Software Architecture KA</a:t>
            </a:r>
            <a:r>
              <a:rPr lang="en-ID" sz="1800" dirty="0">
                <a:effectLst/>
                <a:latin typeface="TimesNewRomanPSMT"/>
              </a:rPr>
              <a:t>). </a:t>
            </a:r>
            <a:r>
              <a:rPr lang="en-ID" sz="1800" dirty="0">
                <a:effectLst/>
                <a:latin typeface="TimesNewRomanPSMT"/>
                <a:sym typeface="Wingdings" pitchFamily="2" charset="2"/>
              </a:rPr>
              <a:t> </a:t>
            </a:r>
            <a:r>
              <a:rPr lang="en-ID" sz="1800" dirty="0" err="1">
                <a:effectLst/>
                <a:highlight>
                  <a:srgbClr val="FFFF00"/>
                </a:highlight>
                <a:latin typeface="TimesNewRomanPSMT"/>
                <a:sym typeface="Wingdings" pitchFamily="2" charset="2"/>
              </a:rPr>
              <a:t>Fokus</a:t>
            </a:r>
            <a:r>
              <a:rPr lang="en-ID" sz="1800" dirty="0">
                <a:effectLst/>
                <a:highlight>
                  <a:srgbClr val="FFFF00"/>
                </a:highlight>
                <a:latin typeface="TimesNewRomanPSMT"/>
                <a:sym typeface="Wingdings" pitchFamily="2" charset="2"/>
              </a:rPr>
              <a:t> </a:t>
            </a:r>
            <a:r>
              <a:rPr lang="en-ID" sz="1800" dirty="0" err="1">
                <a:effectLst/>
                <a:highlight>
                  <a:srgbClr val="FFFF00"/>
                </a:highlight>
                <a:latin typeface="TimesNewRomanPSMT"/>
                <a:sym typeface="Wingdings" pitchFamily="2" charset="2"/>
              </a:rPr>
              <a:t>materi</a:t>
            </a:r>
            <a:r>
              <a:rPr lang="en-ID" sz="1800" dirty="0">
                <a:effectLst/>
                <a:highlight>
                  <a:srgbClr val="FFFF00"/>
                </a:highlight>
                <a:latin typeface="TimesNewRomanPSMT"/>
                <a:sym typeface="Wingdings" pitchFamily="2" charset="2"/>
              </a:rPr>
              <a:t> </a:t>
            </a:r>
            <a:r>
              <a:rPr lang="en-ID" sz="1800" dirty="0" err="1">
                <a:effectLst/>
                <a:highlight>
                  <a:srgbClr val="FFFF00"/>
                </a:highlight>
                <a:latin typeface="TimesNewRomanPSMT"/>
                <a:sym typeface="Wingdings" pitchFamily="2" charset="2"/>
              </a:rPr>
              <a:t>bagian</a:t>
            </a:r>
            <a:r>
              <a:rPr lang="en-ID" sz="1800" dirty="0">
                <a:effectLst/>
                <a:highlight>
                  <a:srgbClr val="FFFF00"/>
                </a:highlight>
                <a:latin typeface="TimesNewRomanPSMT"/>
                <a:sym typeface="Wingdings" pitchFamily="2" charset="2"/>
              </a:rPr>
              <a:t> Software Architecture (</a:t>
            </a:r>
            <a:r>
              <a:rPr lang="en-ID" sz="1800" dirty="0" err="1">
                <a:effectLst/>
                <a:highlight>
                  <a:srgbClr val="FFFF00"/>
                </a:highlight>
                <a:latin typeface="TimesNewRomanPSMT"/>
                <a:sym typeface="Wingdings" pitchFamily="2" charset="2"/>
              </a:rPr>
              <a:t>kelas</a:t>
            </a:r>
            <a:r>
              <a:rPr lang="en-ID" sz="1800" dirty="0">
                <a:effectLst/>
                <a:highlight>
                  <a:srgbClr val="FFFF00"/>
                </a:highlight>
                <a:latin typeface="TimesNewRomanPSMT"/>
                <a:sym typeface="Wingdings" pitchFamily="2" charset="2"/>
              </a:rPr>
              <a:t>)</a:t>
            </a:r>
            <a:endParaRPr lang="en-ID" sz="1200" dirty="0">
              <a:effectLst/>
              <a:highlight>
                <a:srgbClr val="FFFF00"/>
              </a:highlight>
            </a:endParaRPr>
          </a:p>
          <a:p>
            <a:pPr>
              <a:buFont typeface="+mj-lt"/>
              <a:buAutoNum type="arabicPeriod"/>
            </a:pPr>
            <a:r>
              <a:rPr lang="en-ID" sz="1800" dirty="0">
                <a:effectLst/>
                <a:latin typeface="TimesNewRomanPSMT"/>
              </a:rPr>
              <a:t>The high-level design stage is </a:t>
            </a:r>
            <a:r>
              <a:rPr lang="en-ID" sz="1800" i="1" dirty="0">
                <a:effectLst/>
                <a:latin typeface="TimesNewRomanPS"/>
              </a:rPr>
              <a:t>outward-facing</a:t>
            </a:r>
            <a:r>
              <a:rPr lang="en-ID" sz="1800" dirty="0">
                <a:effectLst/>
                <a:latin typeface="TimesNewRomanPSMT"/>
              </a:rPr>
              <a:t>—developing the top-level structure and organization of the software, identifying its various components and how that software system and its components interact with the environment and its elements.</a:t>
            </a:r>
            <a:r>
              <a:rPr lang="en-ID" sz="1800" dirty="0">
                <a:effectLst/>
                <a:highlight>
                  <a:srgbClr val="FFFF00"/>
                </a:highlight>
                <a:latin typeface="TimesNewRomanPSMT"/>
              </a:rPr>
              <a:t> </a:t>
            </a:r>
            <a:r>
              <a:rPr lang="en-ID" sz="1800" dirty="0">
                <a:effectLst/>
                <a:highlight>
                  <a:srgbClr val="FFFF00"/>
                </a:highlight>
                <a:latin typeface="TimesNewRomanPSMT"/>
                <a:sym typeface="Wingdings" pitchFamily="2" charset="2"/>
              </a:rPr>
              <a:t> </a:t>
            </a:r>
            <a:r>
              <a:rPr lang="en-ID" sz="1800" dirty="0" err="1">
                <a:effectLst/>
                <a:highlight>
                  <a:srgbClr val="FFFF00"/>
                </a:highlight>
                <a:latin typeface="TimesNewRomanPSMT"/>
                <a:sym typeface="Wingdings" pitchFamily="2" charset="2"/>
              </a:rPr>
              <a:t>dicover</a:t>
            </a:r>
            <a:r>
              <a:rPr lang="en-ID" sz="1800" dirty="0">
                <a:effectLst/>
                <a:highlight>
                  <a:srgbClr val="FFFF00"/>
                </a:highlight>
                <a:latin typeface="TimesNewRomanPSMT"/>
                <a:sym typeface="Wingdings" pitchFamily="2" charset="2"/>
              </a:rPr>
              <a:t> pada </a:t>
            </a:r>
            <a:r>
              <a:rPr lang="en-ID" sz="1800" dirty="0" err="1">
                <a:effectLst/>
                <a:highlight>
                  <a:srgbClr val="FFFF00"/>
                </a:highlight>
                <a:latin typeface="TimesNewRomanPSMT"/>
                <a:sym typeface="Wingdings" pitchFamily="2" charset="2"/>
              </a:rPr>
              <a:t>mata</a:t>
            </a:r>
            <a:r>
              <a:rPr lang="en-ID" sz="1800" dirty="0">
                <a:effectLst/>
                <a:highlight>
                  <a:srgbClr val="FFFF00"/>
                </a:highlight>
                <a:latin typeface="TimesNewRomanPSMT"/>
                <a:sym typeface="Wingdings" pitchFamily="2" charset="2"/>
              </a:rPr>
              <a:t> </a:t>
            </a:r>
            <a:r>
              <a:rPr lang="en-ID" sz="1800" dirty="0" err="1">
                <a:effectLst/>
                <a:highlight>
                  <a:srgbClr val="FFFF00"/>
                </a:highlight>
                <a:latin typeface="TimesNewRomanPSMT"/>
                <a:sym typeface="Wingdings" pitchFamily="2" charset="2"/>
              </a:rPr>
              <a:t>kuliah</a:t>
            </a:r>
            <a:r>
              <a:rPr lang="en-ID" sz="1800" dirty="0">
                <a:effectLst/>
                <a:highlight>
                  <a:srgbClr val="FFFF00"/>
                </a:highlight>
                <a:latin typeface="TimesNewRomanPSMT"/>
                <a:sym typeface="Wingdings" pitchFamily="2" charset="2"/>
              </a:rPr>
              <a:t> lain </a:t>
            </a:r>
            <a:r>
              <a:rPr lang="en-ID" sz="1800" dirty="0" err="1">
                <a:effectLst/>
                <a:highlight>
                  <a:srgbClr val="FFFF00"/>
                </a:highlight>
                <a:latin typeface="TimesNewRomanPSMT"/>
                <a:sym typeface="Wingdings" pitchFamily="2" charset="2"/>
              </a:rPr>
              <a:t>seperti</a:t>
            </a:r>
            <a:r>
              <a:rPr lang="en-ID" sz="1800" dirty="0">
                <a:effectLst/>
                <a:highlight>
                  <a:srgbClr val="FFFF00"/>
                </a:highlight>
                <a:latin typeface="TimesNewRomanPSMT"/>
                <a:sym typeface="Wingdings" pitchFamily="2" charset="2"/>
              </a:rPr>
              <a:t> IMK, </a:t>
            </a:r>
            <a:r>
              <a:rPr lang="en-ID" sz="1800" dirty="0" err="1">
                <a:effectLst/>
                <a:highlight>
                  <a:srgbClr val="FFFF00"/>
                </a:highlight>
                <a:latin typeface="TimesNewRomanPSMT"/>
                <a:sym typeface="Wingdings" pitchFamily="2" charset="2"/>
              </a:rPr>
              <a:t>Pemodelan</a:t>
            </a:r>
            <a:r>
              <a:rPr lang="en-ID" sz="1800" dirty="0">
                <a:effectLst/>
                <a:highlight>
                  <a:srgbClr val="FFFF00"/>
                </a:highlight>
                <a:latin typeface="TimesNewRomanPSMT"/>
                <a:sym typeface="Wingdings" pitchFamily="2" charset="2"/>
              </a:rPr>
              <a:t> PL, </a:t>
            </a:r>
            <a:r>
              <a:rPr lang="en-ID" sz="1800" dirty="0" err="1">
                <a:effectLst/>
                <a:highlight>
                  <a:srgbClr val="FFFF00"/>
                </a:highlight>
                <a:latin typeface="TimesNewRomanPSMT"/>
                <a:sym typeface="Wingdings" pitchFamily="2" charset="2"/>
              </a:rPr>
              <a:t>Basdat</a:t>
            </a:r>
            <a:r>
              <a:rPr lang="en-ID" sz="1800" dirty="0">
                <a:effectLst/>
                <a:highlight>
                  <a:srgbClr val="FFFF00"/>
                </a:highlight>
                <a:latin typeface="TimesNewRomanPSMT"/>
                <a:sym typeface="Wingdings" pitchFamily="2" charset="2"/>
              </a:rPr>
              <a:t> </a:t>
            </a:r>
            <a:r>
              <a:rPr lang="en-ID" sz="1800" dirty="0" err="1">
                <a:effectLst/>
                <a:highlight>
                  <a:srgbClr val="FFFF00"/>
                </a:highlight>
                <a:latin typeface="TimesNewRomanPSMT"/>
                <a:sym typeface="Wingdings" pitchFamily="2" charset="2"/>
              </a:rPr>
              <a:t>dll</a:t>
            </a:r>
            <a:endParaRPr lang="en-ID" sz="1200" dirty="0">
              <a:effectLst/>
              <a:highlight>
                <a:srgbClr val="FFFF00"/>
              </a:highlight>
            </a:endParaRPr>
          </a:p>
          <a:p>
            <a:pPr>
              <a:buFont typeface="+mj-lt"/>
              <a:buAutoNum type="arabicPeriod"/>
            </a:pPr>
            <a:r>
              <a:rPr lang="en-ID" sz="1800" dirty="0">
                <a:effectLst/>
                <a:latin typeface="TimesNewRomanPSMT"/>
              </a:rPr>
              <a:t>The detailed design stage is </a:t>
            </a:r>
            <a:r>
              <a:rPr lang="en-ID" sz="1800" i="1" dirty="0">
                <a:effectLst/>
                <a:latin typeface="TimesNewRomanPS"/>
              </a:rPr>
              <a:t>inward-facing</a:t>
            </a:r>
            <a:r>
              <a:rPr lang="en-ID" sz="1800" dirty="0">
                <a:effectLst/>
                <a:latin typeface="TimesNewRomanPSMT"/>
              </a:rPr>
              <a:t>—specifying each component in sufficient detail to facilitate its construction and to meet its outside obligations, including how software components are further refined into modules and units. </a:t>
            </a:r>
            <a:r>
              <a:rPr lang="en-ID" sz="1800" dirty="0">
                <a:highlight>
                  <a:srgbClr val="FFFF00"/>
                </a:highlight>
                <a:latin typeface="TimesNewRomanPSMT"/>
              </a:rPr>
              <a:t>==&gt; </a:t>
            </a:r>
            <a:r>
              <a:rPr lang="en-ID" sz="1800" dirty="0" err="1">
                <a:effectLst/>
                <a:highlight>
                  <a:srgbClr val="FFFF00"/>
                </a:highlight>
                <a:latin typeface="TimesNewRomanPSMT"/>
              </a:rPr>
              <a:t>Fokus</a:t>
            </a:r>
            <a:r>
              <a:rPr lang="en-ID" sz="1800" dirty="0">
                <a:effectLst/>
                <a:highlight>
                  <a:srgbClr val="FFFF00"/>
                </a:highlight>
                <a:latin typeface="TimesNewRomanPSMT"/>
              </a:rPr>
              <a:t> </a:t>
            </a:r>
            <a:r>
              <a:rPr lang="en-ID" sz="1800" dirty="0" err="1">
                <a:effectLst/>
                <a:highlight>
                  <a:srgbClr val="FFFF00"/>
                </a:highlight>
                <a:latin typeface="TimesNewRomanPSMT"/>
              </a:rPr>
              <a:t>materi</a:t>
            </a:r>
            <a:r>
              <a:rPr lang="en-ID" sz="1800" dirty="0">
                <a:effectLst/>
                <a:highlight>
                  <a:srgbClr val="FFFF00"/>
                </a:highlight>
                <a:latin typeface="TimesNewRomanPSMT"/>
              </a:rPr>
              <a:t> </a:t>
            </a:r>
            <a:r>
              <a:rPr lang="en-ID" sz="1800" dirty="0" err="1">
                <a:effectLst/>
                <a:highlight>
                  <a:srgbClr val="FFFF00"/>
                </a:highlight>
                <a:latin typeface="TimesNewRomanPSMT"/>
              </a:rPr>
              <a:t>bagian</a:t>
            </a:r>
            <a:r>
              <a:rPr lang="en-ID" sz="1800" dirty="0">
                <a:effectLst/>
                <a:highlight>
                  <a:srgbClr val="FFFF00"/>
                </a:highlight>
                <a:latin typeface="TimesNewRomanPSMT"/>
              </a:rPr>
              <a:t> Software Design (</a:t>
            </a:r>
            <a:r>
              <a:rPr lang="en-ID" sz="1800" dirty="0" err="1">
                <a:effectLst/>
                <a:highlight>
                  <a:srgbClr val="FFFF00"/>
                </a:highlight>
                <a:latin typeface="TimesNewRomanPSMT"/>
              </a:rPr>
              <a:t>kelas</a:t>
            </a:r>
            <a:r>
              <a:rPr lang="en-ID" sz="1800" dirty="0">
                <a:effectLst/>
                <a:highlight>
                  <a:srgbClr val="FFFF00"/>
                </a:highlight>
                <a:latin typeface="TimesNewRomanPSMT"/>
              </a:rPr>
              <a:t> dan </a:t>
            </a:r>
            <a:r>
              <a:rPr lang="en-ID" sz="1800" dirty="0" err="1">
                <a:effectLst/>
                <a:highlight>
                  <a:srgbClr val="FFFF00"/>
                </a:highlight>
                <a:latin typeface="TimesNewRomanPSMT"/>
              </a:rPr>
              <a:t>praktikum</a:t>
            </a:r>
            <a:r>
              <a:rPr lang="en-ID" sz="1800" dirty="0">
                <a:effectLst/>
                <a:highlight>
                  <a:srgbClr val="FFFF00"/>
                </a:highlight>
                <a:latin typeface="TimesNewRomanPSMT"/>
              </a:rPr>
              <a:t>) dan </a:t>
            </a:r>
            <a:r>
              <a:rPr lang="en-ID" sz="1800" dirty="0" err="1">
                <a:effectLst/>
                <a:highlight>
                  <a:srgbClr val="FFFF00"/>
                </a:highlight>
                <a:latin typeface="TimesNewRomanPSMT"/>
              </a:rPr>
              <a:t>dikembangkan</a:t>
            </a:r>
            <a:r>
              <a:rPr lang="en-ID" sz="1800" dirty="0">
                <a:effectLst/>
                <a:highlight>
                  <a:srgbClr val="FFFF00"/>
                </a:highlight>
                <a:latin typeface="TimesNewRomanPSMT"/>
              </a:rPr>
              <a:t> </a:t>
            </a:r>
            <a:r>
              <a:rPr lang="en-ID" sz="1800" dirty="0" err="1">
                <a:effectLst/>
                <a:highlight>
                  <a:srgbClr val="FFFF00"/>
                </a:highlight>
                <a:latin typeface="TimesNewRomanPSMT"/>
              </a:rPr>
              <a:t>lebih</a:t>
            </a:r>
            <a:r>
              <a:rPr lang="en-ID" sz="1800" dirty="0">
                <a:effectLst/>
                <a:highlight>
                  <a:srgbClr val="FFFF00"/>
                </a:highlight>
                <a:latin typeface="TimesNewRomanPSMT"/>
              </a:rPr>
              <a:t> </a:t>
            </a:r>
            <a:r>
              <a:rPr lang="en-ID" sz="1800" dirty="0" err="1">
                <a:effectLst/>
                <a:highlight>
                  <a:srgbClr val="FFFF00"/>
                </a:highlight>
                <a:latin typeface="TimesNewRomanPSMT"/>
              </a:rPr>
              <a:t>lanjut</a:t>
            </a:r>
            <a:r>
              <a:rPr lang="en-ID" sz="1800" dirty="0">
                <a:effectLst/>
                <a:highlight>
                  <a:srgbClr val="FFFF00"/>
                </a:highlight>
                <a:latin typeface="TimesNewRomanPSMT"/>
              </a:rPr>
              <a:t> pada MK </a:t>
            </a:r>
            <a:r>
              <a:rPr lang="en-ID" sz="1800" dirty="0" err="1">
                <a:effectLst/>
                <a:highlight>
                  <a:srgbClr val="FFFF00"/>
                </a:highlight>
                <a:latin typeface="TimesNewRomanPSMT"/>
              </a:rPr>
              <a:t>Konstruksi</a:t>
            </a:r>
            <a:r>
              <a:rPr lang="en-ID" sz="1800" dirty="0">
                <a:effectLst/>
                <a:highlight>
                  <a:srgbClr val="FFFF00"/>
                </a:highlight>
                <a:latin typeface="TimesNewRomanPSMT"/>
              </a:rPr>
              <a:t> PL</a:t>
            </a:r>
          </a:p>
          <a:p>
            <a:pPr>
              <a:buFont typeface="+mj-lt"/>
              <a:buAutoNum type="arabicPeriod"/>
            </a:pPr>
            <a:endParaRPr lang="en-ID" sz="1800" dirty="0">
              <a:effectLst/>
              <a:latin typeface="TimesNewRomanPSMT"/>
            </a:endParaRPr>
          </a:p>
          <a:p>
            <a:pPr>
              <a:buFont typeface="+mj-lt"/>
              <a:buAutoNum type="arabicPeriod"/>
            </a:pPr>
            <a:endParaRPr lang="en-ID" sz="1200" dirty="0">
              <a:effectLst/>
            </a:endParaRPr>
          </a:p>
          <a:p>
            <a:pPr>
              <a:buFont typeface="Arial" panose="020B0604020202020204" pitchFamily="34" charset="0"/>
              <a:buChar char="•"/>
            </a:pPr>
            <a:endParaRPr lang="en-ID" sz="1800" dirty="0">
              <a:effectLst/>
              <a:latin typeface="SymbolMT"/>
            </a:endParaRPr>
          </a:p>
          <a:p>
            <a:endParaRPr lang="en-US" dirty="0"/>
          </a:p>
        </p:txBody>
      </p:sp>
    </p:spTree>
    <p:extLst>
      <p:ext uri="{BB962C8B-B14F-4D97-AF65-F5344CB8AC3E}">
        <p14:creationId xmlns:p14="http://schemas.microsoft.com/office/powerpoint/2010/main" val="849885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BDF54-FE5F-9041-57A1-9565C6355EC3}"/>
              </a:ext>
            </a:extLst>
          </p:cNvPr>
          <p:cNvSpPr>
            <a:spLocks noGrp="1"/>
          </p:cNvSpPr>
          <p:nvPr>
            <p:ph type="title"/>
          </p:nvPr>
        </p:nvSpPr>
        <p:spPr/>
        <p:txBody>
          <a:bodyPr/>
          <a:lstStyle/>
          <a:p>
            <a:r>
              <a:rPr lang="en-US" dirty="0"/>
              <a:t>Rules of thumb for architectural design stage </a:t>
            </a:r>
          </a:p>
        </p:txBody>
      </p:sp>
      <p:sp>
        <p:nvSpPr>
          <p:cNvPr id="3" name="Content Placeholder 2">
            <a:extLst>
              <a:ext uri="{FF2B5EF4-FFF2-40B4-BE49-F238E27FC236}">
                <a16:creationId xmlns:a16="http://schemas.microsoft.com/office/drawing/2014/main" id="{D34351B7-B9A5-8704-ACC5-BD9087B615A0}"/>
              </a:ext>
            </a:extLst>
          </p:cNvPr>
          <p:cNvSpPr>
            <a:spLocks noGrp="1"/>
          </p:cNvSpPr>
          <p:nvPr>
            <p:ph idx="1"/>
          </p:nvPr>
        </p:nvSpPr>
        <p:spPr/>
        <p:txBody>
          <a:bodyPr>
            <a:normAutofit/>
          </a:bodyPr>
          <a:lstStyle/>
          <a:p>
            <a:r>
              <a:rPr lang="en-ID" sz="1800" dirty="0">
                <a:effectLst/>
                <a:latin typeface="TimesNewRomanPSMT"/>
              </a:rPr>
              <a:t>The architectural design stage defines a computational model, the major computational elements, and the important protocols and relationships among them. This stage develops strategies to address crosscutting concerns, such as performance, reliability, security and safety, and articulation of crosscutting decisions, including system-wide styles (e.g., a Model-View- Controller style versus, a Pipes-and-Filters style, together with the rationale for such decisions). </a:t>
            </a:r>
            <a:endParaRPr lang="en-ID" dirty="0"/>
          </a:p>
        </p:txBody>
      </p:sp>
    </p:spTree>
    <p:extLst>
      <p:ext uri="{BB962C8B-B14F-4D97-AF65-F5344CB8AC3E}">
        <p14:creationId xmlns:p14="http://schemas.microsoft.com/office/powerpoint/2010/main" val="825481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BDF54-FE5F-9041-57A1-9565C6355EC3}"/>
              </a:ext>
            </a:extLst>
          </p:cNvPr>
          <p:cNvSpPr>
            <a:spLocks noGrp="1"/>
          </p:cNvSpPr>
          <p:nvPr>
            <p:ph type="title"/>
          </p:nvPr>
        </p:nvSpPr>
        <p:spPr/>
        <p:txBody>
          <a:bodyPr/>
          <a:lstStyle/>
          <a:p>
            <a:r>
              <a:rPr lang="en-US" dirty="0"/>
              <a:t>Rules of thumb for high level design stage </a:t>
            </a:r>
          </a:p>
        </p:txBody>
      </p:sp>
      <p:sp>
        <p:nvSpPr>
          <p:cNvPr id="3" name="Content Placeholder 2">
            <a:extLst>
              <a:ext uri="{FF2B5EF4-FFF2-40B4-BE49-F238E27FC236}">
                <a16:creationId xmlns:a16="http://schemas.microsoft.com/office/drawing/2014/main" id="{D34351B7-B9A5-8704-ACC5-BD9087B615A0}"/>
              </a:ext>
            </a:extLst>
          </p:cNvPr>
          <p:cNvSpPr>
            <a:spLocks noGrp="1"/>
          </p:cNvSpPr>
          <p:nvPr>
            <p:ph idx="1"/>
          </p:nvPr>
        </p:nvSpPr>
        <p:spPr/>
        <p:txBody>
          <a:bodyPr>
            <a:normAutofit/>
          </a:bodyPr>
          <a:lstStyle/>
          <a:p>
            <a:r>
              <a:rPr lang="en-ID" sz="1800" dirty="0">
                <a:effectLst/>
                <a:latin typeface="TimesNewRomanPSMT"/>
              </a:rPr>
              <a:t>The high-level design stage includes identification of the primary computational elements and significant relationships among them, with a focus on each major component’s existence, role and interfaces. That definition should be sufficiently detailed to allow designers or programmers of client components to correctly and efficiently access each server’s capabilities—without having to read its code. </a:t>
            </a:r>
          </a:p>
          <a:p>
            <a:r>
              <a:rPr lang="en-ID" sz="1800" dirty="0">
                <a:effectLst/>
                <a:latin typeface="TimesNewRomanPSMT"/>
              </a:rPr>
              <a:t>High-level design addresses the following: </a:t>
            </a:r>
            <a:endParaRPr lang="en-ID" dirty="0"/>
          </a:p>
          <a:p>
            <a:pPr lvl="1"/>
            <a:r>
              <a:rPr lang="en-ID" sz="1400" dirty="0">
                <a:effectLst/>
                <a:latin typeface="TimesNewRomanPSMT"/>
              </a:rPr>
              <a:t>External events and messages to which the system must respond </a:t>
            </a:r>
            <a:endParaRPr lang="en-ID" dirty="0"/>
          </a:p>
          <a:p>
            <a:pPr lvl="1"/>
            <a:r>
              <a:rPr lang="en-ID" sz="1400" dirty="0">
                <a:effectLst/>
                <a:latin typeface="TimesNewRomanPSMT"/>
              </a:rPr>
              <a:t>Events and messages which the system must produce</a:t>
            </a:r>
          </a:p>
          <a:p>
            <a:pPr lvl="1"/>
            <a:r>
              <a:rPr lang="en-ID" sz="1400" dirty="0">
                <a:effectLst/>
                <a:latin typeface="TimesNewRomanPSMT"/>
              </a:rPr>
              <a:t>Specification of the data formats and protocols for events and messages </a:t>
            </a:r>
            <a:endParaRPr lang="en-ID" dirty="0"/>
          </a:p>
          <a:p>
            <a:pPr lvl="1"/>
            <a:r>
              <a:rPr lang="en-ID" sz="1400" dirty="0">
                <a:effectLst/>
                <a:latin typeface="TimesNewRomanPSMT"/>
              </a:rPr>
              <a:t>Specification of the ordering and timing relationships between input events and messages, and output events and messages </a:t>
            </a:r>
            <a:endParaRPr lang="en-ID" dirty="0"/>
          </a:p>
          <a:p>
            <a:pPr lvl="1"/>
            <a:r>
              <a:rPr lang="en-ID" sz="1400" dirty="0">
                <a:effectLst/>
                <a:latin typeface="TimesNewRomanPSMT"/>
              </a:rPr>
              <a:t>Data persistence (how data is stored and managed) </a:t>
            </a:r>
            <a:endParaRPr lang="en-ID" dirty="0"/>
          </a:p>
          <a:p>
            <a:r>
              <a:rPr lang="en-ID" sz="1800" dirty="0">
                <a:effectLst/>
                <a:latin typeface="TimesNewRomanPSMT"/>
              </a:rPr>
              <a:t>High-level design is undertaken within the envelope established by the system’s software architecture (if any). Each of the above may be guided or constrained by architecture directives. For example, event </a:t>
            </a:r>
            <a:r>
              <a:rPr lang="en-ID" sz="1800" dirty="0" err="1">
                <a:effectLst/>
                <a:latin typeface="TimesNewRomanPSMT"/>
              </a:rPr>
              <a:t>signaling</a:t>
            </a:r>
            <a:r>
              <a:rPr lang="en-ID" sz="1800" dirty="0">
                <a:effectLst/>
                <a:latin typeface="TimesNewRomanPSMT"/>
              </a:rPr>
              <a:t> and messaging will use the protocols and modes of interaction established by the architecture. Data formats and protocols will use data and communication standards specified by the architecture. Absent an explicit architecture design stage, some of these directives will be established by the software requirements or decided during high-level design. </a:t>
            </a:r>
            <a:endParaRPr lang="en-ID" dirty="0"/>
          </a:p>
          <a:p>
            <a:endParaRPr lang="en-ID" dirty="0"/>
          </a:p>
        </p:txBody>
      </p:sp>
    </p:spTree>
    <p:extLst>
      <p:ext uri="{BB962C8B-B14F-4D97-AF65-F5344CB8AC3E}">
        <p14:creationId xmlns:p14="http://schemas.microsoft.com/office/powerpoint/2010/main" val="327803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BDF54-FE5F-9041-57A1-9565C6355EC3}"/>
              </a:ext>
            </a:extLst>
          </p:cNvPr>
          <p:cNvSpPr>
            <a:spLocks noGrp="1"/>
          </p:cNvSpPr>
          <p:nvPr>
            <p:ph type="title"/>
          </p:nvPr>
        </p:nvSpPr>
        <p:spPr/>
        <p:txBody>
          <a:bodyPr/>
          <a:lstStyle/>
          <a:p>
            <a:r>
              <a:rPr lang="en-US" dirty="0"/>
              <a:t>Rules of thumb for detailed design stage </a:t>
            </a:r>
          </a:p>
        </p:txBody>
      </p:sp>
      <p:sp>
        <p:nvSpPr>
          <p:cNvPr id="3" name="Content Placeholder 2">
            <a:extLst>
              <a:ext uri="{FF2B5EF4-FFF2-40B4-BE49-F238E27FC236}">
                <a16:creationId xmlns:a16="http://schemas.microsoft.com/office/drawing/2014/main" id="{D34351B7-B9A5-8704-ACC5-BD9087B615A0}"/>
              </a:ext>
            </a:extLst>
          </p:cNvPr>
          <p:cNvSpPr>
            <a:spLocks noGrp="1"/>
          </p:cNvSpPr>
          <p:nvPr>
            <p:ph idx="1"/>
          </p:nvPr>
        </p:nvSpPr>
        <p:spPr/>
        <p:txBody>
          <a:bodyPr>
            <a:normAutofit/>
          </a:bodyPr>
          <a:lstStyle/>
          <a:p>
            <a:r>
              <a:rPr lang="en-ID" sz="1800" dirty="0">
                <a:effectLst/>
                <a:latin typeface="TimesNewRomanPSMT"/>
              </a:rPr>
              <a:t>The detailed design stage defines each module’s internal structure, focusing on detailing and justifying choices of algorithms, data access and data representation. The detailed design specifications should be sufficient to allow programmers to code each module during construction (see </a:t>
            </a:r>
            <a:r>
              <a:rPr lang="en-ID" sz="1800" dirty="0">
                <a:solidFill>
                  <a:srgbClr val="0230FF"/>
                </a:solidFill>
                <a:effectLst/>
                <a:latin typeface="TimesNewRomanPSMT"/>
              </a:rPr>
              <a:t>Software Construction KA</a:t>
            </a:r>
            <a:r>
              <a:rPr lang="en-ID" sz="1800" dirty="0">
                <a:effectLst/>
                <a:latin typeface="TimesNewRomanPSMT"/>
              </a:rPr>
              <a:t>). The code is a representation of the solution that is sufficiently detailed and complete that a compiler (or interpreter) can execute it. </a:t>
            </a:r>
          </a:p>
          <a:p>
            <a:r>
              <a:rPr lang="en-ID" sz="1800" dirty="0">
                <a:effectLst/>
                <a:latin typeface="TimesNewRomanPSMT"/>
              </a:rPr>
              <a:t>This includes the following: </a:t>
            </a:r>
            <a:endParaRPr lang="en-ID" dirty="0"/>
          </a:p>
          <a:p>
            <a:pPr lvl="1"/>
            <a:r>
              <a:rPr lang="en-ID" sz="1400" dirty="0">
                <a:effectLst/>
                <a:latin typeface="TimesNewRomanPSMT"/>
              </a:rPr>
              <a:t>Refinement of major system components into modules or program units, including opportunities for using off- the-shelf components and application frameworks </a:t>
            </a:r>
            <a:endParaRPr lang="en-ID" sz="1400" dirty="0">
              <a:effectLst/>
              <a:latin typeface="SymbolMT"/>
            </a:endParaRPr>
          </a:p>
          <a:p>
            <a:pPr lvl="1"/>
            <a:r>
              <a:rPr lang="en-ID" sz="1400" dirty="0">
                <a:effectLst/>
                <a:latin typeface="TimesNewRomanPSMT"/>
              </a:rPr>
              <a:t>Allocation of design responsibilities to modules and program units </a:t>
            </a:r>
            <a:endParaRPr lang="en-ID" sz="1400" dirty="0">
              <a:effectLst/>
              <a:latin typeface="SymbolMT"/>
            </a:endParaRPr>
          </a:p>
          <a:p>
            <a:pPr lvl="1"/>
            <a:r>
              <a:rPr lang="en-ID" sz="1400" dirty="0">
                <a:effectLst/>
                <a:latin typeface="TimesNewRomanPSMT"/>
              </a:rPr>
              <a:t>Interactions among modules </a:t>
            </a:r>
            <a:endParaRPr lang="en-ID" sz="1400" dirty="0">
              <a:effectLst/>
              <a:latin typeface="SymbolMT"/>
            </a:endParaRPr>
          </a:p>
          <a:p>
            <a:pPr lvl="1"/>
            <a:r>
              <a:rPr lang="en-ID" sz="1400" dirty="0">
                <a:effectLst/>
                <a:latin typeface="TimesNewRomanPSMT"/>
              </a:rPr>
              <a:t>Scope and visibility among components, modules and program units </a:t>
            </a:r>
            <a:endParaRPr lang="en-ID" sz="1400" dirty="0">
              <a:effectLst/>
              <a:latin typeface="SymbolMT"/>
            </a:endParaRPr>
          </a:p>
          <a:p>
            <a:pPr lvl="1"/>
            <a:r>
              <a:rPr lang="en-ID" sz="1400" dirty="0">
                <a:effectLst/>
                <a:latin typeface="TimesNewRomanPSMT"/>
              </a:rPr>
              <a:t>Component modes, component states and transitions among them </a:t>
            </a:r>
            <a:endParaRPr lang="en-ID" sz="1400" dirty="0">
              <a:effectLst/>
              <a:latin typeface="SymbolMT"/>
            </a:endParaRPr>
          </a:p>
          <a:p>
            <a:pPr lvl="1"/>
            <a:r>
              <a:rPr lang="en-ID" sz="1400" dirty="0">
                <a:effectLst/>
                <a:latin typeface="TimesNewRomanPSMT"/>
              </a:rPr>
              <a:t>Data and control interdependencies </a:t>
            </a:r>
            <a:endParaRPr lang="en-ID" sz="1400" dirty="0">
              <a:effectLst/>
              <a:latin typeface="SymbolMT"/>
            </a:endParaRPr>
          </a:p>
          <a:p>
            <a:pPr lvl="1"/>
            <a:r>
              <a:rPr lang="en-ID" sz="1400" dirty="0">
                <a:effectLst/>
                <a:latin typeface="TimesNewRomanPSMT"/>
              </a:rPr>
              <a:t>Data organization, packaging and implementation </a:t>
            </a:r>
            <a:endParaRPr lang="en-ID" sz="1400" dirty="0">
              <a:effectLst/>
              <a:latin typeface="SymbolMT"/>
            </a:endParaRPr>
          </a:p>
          <a:p>
            <a:pPr lvl="1"/>
            <a:r>
              <a:rPr lang="en-ID" sz="1400" dirty="0">
                <a:effectLst/>
                <a:latin typeface="TimesNewRomanPSMT"/>
              </a:rPr>
              <a:t>User interfaces </a:t>
            </a:r>
            <a:endParaRPr lang="en-ID" sz="1400" dirty="0">
              <a:effectLst/>
              <a:latin typeface="SymbolMT"/>
            </a:endParaRPr>
          </a:p>
          <a:p>
            <a:pPr lvl="1"/>
            <a:r>
              <a:rPr lang="en-ID" sz="1400" dirty="0">
                <a:effectLst/>
                <a:latin typeface="TimesNewRomanPSMT"/>
              </a:rPr>
              <a:t>Requisite algorithms and data structures </a:t>
            </a:r>
            <a:endParaRPr lang="en-ID" sz="1400" dirty="0">
              <a:effectLst/>
              <a:latin typeface="SymbolMT"/>
            </a:endParaRPr>
          </a:p>
          <a:p>
            <a:endParaRPr lang="en-ID" dirty="0"/>
          </a:p>
        </p:txBody>
      </p:sp>
    </p:spTree>
    <p:extLst>
      <p:ext uri="{BB962C8B-B14F-4D97-AF65-F5344CB8AC3E}">
        <p14:creationId xmlns:p14="http://schemas.microsoft.com/office/powerpoint/2010/main" val="3263117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1337</Words>
  <Application>Microsoft Macintosh PowerPoint</Application>
  <PresentationFormat>Widescreen</PresentationFormat>
  <Paragraphs>67</Paragraphs>
  <Slides>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Light</vt:lpstr>
      <vt:lpstr>SymbolMT</vt:lpstr>
      <vt:lpstr>TimesNewRomanPS</vt:lpstr>
      <vt:lpstr>TimesNewRomanPSMT</vt:lpstr>
      <vt:lpstr>Office Theme</vt:lpstr>
      <vt:lpstr>Pengantar Software Design</vt:lpstr>
      <vt:lpstr>Pengantar</vt:lpstr>
      <vt:lpstr>Pengantar</vt:lpstr>
      <vt:lpstr>Stages/Phases of Software Design Process</vt:lpstr>
      <vt:lpstr>Rules of thumb for architectural design stage </vt:lpstr>
      <vt:lpstr>Rules of thumb for high level design stage </vt:lpstr>
      <vt:lpstr>Rules of thumb for detailed design stage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Pengantar Software Design</dc:title>
  <dc:creator>DAS</dc:creator>
  <cp:lastModifiedBy>DAS</cp:lastModifiedBy>
  <cp:revision>3</cp:revision>
  <dcterms:created xsi:type="dcterms:W3CDTF">2023-09-17T22:17:28Z</dcterms:created>
  <dcterms:modified xsi:type="dcterms:W3CDTF">2025-02-12T06:25:55Z</dcterms:modified>
</cp:coreProperties>
</file>