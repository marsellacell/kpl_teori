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9144000"/>
  <p:notesSz cx="6858000" cy="9144000"/>
  <p:embeddedFontLst>
    <p:embeddedFont>
      <p:font typeface="Play"/>
      <p:regular r:id="rId31"/>
      <p:bold r:id="rId32"/>
    </p:embeddedFont>
    <p:embeddedFont>
      <p:font typeface="Source Code Pro"/>
      <p:regular r:id="rId33"/>
      <p:bold r:id="rId34"/>
      <p:italic r:id="rId35"/>
      <p:boldItalic r:id="rId36"/>
    </p:embeddedFont>
    <p:embeddedFont>
      <p:font typeface="Oswald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hTixltyJx9nOA+2OjxVMndUWyD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D1F99AB-A24F-47AE-89C6-70F0EC70A8EF}">
  <a:tblStyle styleId="{CD1F99AB-A24F-47AE-89C6-70F0EC70A8EF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ay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SourceCodePro-regular.fntdata"/><Relationship Id="rId10" Type="http://schemas.openxmlformats.org/officeDocument/2006/relationships/slide" Target="slides/slide4.xml"/><Relationship Id="rId32" Type="http://schemas.openxmlformats.org/officeDocument/2006/relationships/font" Target="fonts/Play-bold.fntdata"/><Relationship Id="rId13" Type="http://schemas.openxmlformats.org/officeDocument/2006/relationships/slide" Target="slides/slide7.xml"/><Relationship Id="rId35" Type="http://schemas.openxmlformats.org/officeDocument/2006/relationships/font" Target="fonts/SourceCodePro-italic.fntdata"/><Relationship Id="rId12" Type="http://schemas.openxmlformats.org/officeDocument/2006/relationships/slide" Target="slides/slide6.xml"/><Relationship Id="rId34" Type="http://schemas.openxmlformats.org/officeDocument/2006/relationships/font" Target="fonts/SourceCodePro-bold.fntdata"/><Relationship Id="rId15" Type="http://schemas.openxmlformats.org/officeDocument/2006/relationships/slide" Target="slides/slide9.xml"/><Relationship Id="rId37" Type="http://schemas.openxmlformats.org/officeDocument/2006/relationships/font" Target="fonts/Oswald-regular.fntdata"/><Relationship Id="rId14" Type="http://schemas.openxmlformats.org/officeDocument/2006/relationships/slide" Target="slides/slide8.xml"/><Relationship Id="rId36" Type="http://schemas.openxmlformats.org/officeDocument/2006/relationships/font" Target="fonts/SourceCodePro-boldItalic.fntdata"/><Relationship Id="rId17" Type="http://schemas.openxmlformats.org/officeDocument/2006/relationships/slide" Target="slides/slide11.xml"/><Relationship Id="rId39" Type="http://customschemas.google.com/relationships/presentationmetadata" Target="metadata"/><Relationship Id="rId16" Type="http://schemas.openxmlformats.org/officeDocument/2006/relationships/slide" Target="slides/slide10.xml"/><Relationship Id="rId38" Type="http://schemas.openxmlformats.org/officeDocument/2006/relationships/font" Target="fonts/Oswald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33419ab11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333419ab11_1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333419ab11_1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333419ab11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33419ab11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333419ab11_1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333419ab11_1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333419ab11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333419ab11_1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333419ab11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333419ab11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333419ab11_1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333419ab11_1_4"/>
          <p:cNvSpPr/>
          <p:nvPr/>
        </p:nvSpPr>
        <p:spPr>
          <a:xfrm rot="10800000">
            <a:off x="4226100" y="3911300"/>
            <a:ext cx="691800" cy="5181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g3333419ab11_1_4"/>
          <p:cNvSpPr/>
          <p:nvPr/>
        </p:nvSpPr>
        <p:spPr>
          <a:xfrm>
            <a:off x="-25" y="0"/>
            <a:ext cx="9144000" cy="4165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g3333419ab11_1_4"/>
          <p:cNvSpPr txBox="1"/>
          <p:nvPr>
            <p:ph type="ctrTitle"/>
          </p:nvPr>
        </p:nvSpPr>
        <p:spPr>
          <a:xfrm>
            <a:off x="411175" y="859067"/>
            <a:ext cx="8282400" cy="28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g3333419ab11_1_4"/>
          <p:cNvSpPr txBox="1"/>
          <p:nvPr>
            <p:ph idx="1" type="subTitle"/>
          </p:nvPr>
        </p:nvSpPr>
        <p:spPr>
          <a:xfrm>
            <a:off x="411175" y="4531000"/>
            <a:ext cx="8282400" cy="168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g3333419ab11_1_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333419ab11_1_10"/>
          <p:cNvSpPr/>
          <p:nvPr/>
        </p:nvSpPr>
        <p:spPr>
          <a:xfrm>
            <a:off x="0" y="2089800"/>
            <a:ext cx="9144000" cy="267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g3333419ab11_1_10"/>
          <p:cNvSpPr txBox="1"/>
          <p:nvPr>
            <p:ph type="title"/>
          </p:nvPr>
        </p:nvSpPr>
        <p:spPr>
          <a:xfrm>
            <a:off x="430800" y="2519600"/>
            <a:ext cx="8282400" cy="202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g3333419ab11_1_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g3333419ab11_1_14"/>
          <p:cNvCxnSpPr/>
          <p:nvPr/>
        </p:nvCxnSpPr>
        <p:spPr>
          <a:xfrm>
            <a:off x="429200" y="1700769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1" name="Google Shape;21;g3333419ab11_1_14"/>
          <p:cNvSpPr txBox="1"/>
          <p:nvPr>
            <p:ph type="title"/>
          </p:nvPr>
        </p:nvSpPr>
        <p:spPr>
          <a:xfrm>
            <a:off x="311700" y="496667"/>
            <a:ext cx="8520600" cy="97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g3333419ab11_1_14"/>
          <p:cNvSpPr txBox="1"/>
          <p:nvPr>
            <p:ph idx="1" type="body"/>
          </p:nvPr>
        </p:nvSpPr>
        <p:spPr>
          <a:xfrm>
            <a:off x="311700" y="1958433"/>
            <a:ext cx="8520600" cy="41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3333419ab11_1_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g3333419ab11_1_19"/>
          <p:cNvCxnSpPr/>
          <p:nvPr/>
        </p:nvCxnSpPr>
        <p:spPr>
          <a:xfrm>
            <a:off x="429200" y="1700769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6" name="Google Shape;26;g3333419ab11_1_19"/>
          <p:cNvSpPr txBox="1"/>
          <p:nvPr>
            <p:ph type="title"/>
          </p:nvPr>
        </p:nvSpPr>
        <p:spPr>
          <a:xfrm>
            <a:off x="311700" y="496667"/>
            <a:ext cx="8520600" cy="97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g3333419ab11_1_19"/>
          <p:cNvSpPr txBox="1"/>
          <p:nvPr>
            <p:ph idx="1" type="body"/>
          </p:nvPr>
        </p:nvSpPr>
        <p:spPr>
          <a:xfrm>
            <a:off x="311700" y="1958433"/>
            <a:ext cx="3999900" cy="41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3333419ab11_1_19"/>
          <p:cNvSpPr txBox="1"/>
          <p:nvPr>
            <p:ph idx="2" type="body"/>
          </p:nvPr>
        </p:nvSpPr>
        <p:spPr>
          <a:xfrm>
            <a:off x="4832400" y="1958433"/>
            <a:ext cx="3999900" cy="41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333419ab11_1_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333419ab11_1_25"/>
          <p:cNvSpPr txBox="1"/>
          <p:nvPr>
            <p:ph type="title"/>
          </p:nvPr>
        </p:nvSpPr>
        <p:spPr>
          <a:xfrm>
            <a:off x="311700" y="496667"/>
            <a:ext cx="8520600" cy="97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g3333419ab11_1_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g3333419ab11_1_28"/>
          <p:cNvCxnSpPr/>
          <p:nvPr/>
        </p:nvCxnSpPr>
        <p:spPr>
          <a:xfrm>
            <a:off x="418675" y="1943716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5" name="Google Shape;35;g3333419ab11_1_28"/>
          <p:cNvSpPr txBox="1"/>
          <p:nvPr>
            <p:ph type="title"/>
          </p:nvPr>
        </p:nvSpPr>
        <p:spPr>
          <a:xfrm>
            <a:off x="311700" y="8424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g3333419ab11_1_28"/>
          <p:cNvSpPr txBox="1"/>
          <p:nvPr>
            <p:ph idx="1" type="body"/>
          </p:nvPr>
        </p:nvSpPr>
        <p:spPr>
          <a:xfrm>
            <a:off x="311700" y="2157605"/>
            <a:ext cx="2808000" cy="39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g3333419ab11_1_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333419ab11_1_33"/>
          <p:cNvSpPr txBox="1"/>
          <p:nvPr>
            <p:ph type="title"/>
          </p:nvPr>
        </p:nvSpPr>
        <p:spPr>
          <a:xfrm>
            <a:off x="490250" y="705200"/>
            <a:ext cx="5678100" cy="544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g3333419ab11_1_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333419ab11_1_36"/>
          <p:cNvSpPr/>
          <p:nvPr/>
        </p:nvSpPr>
        <p:spPr>
          <a:xfrm>
            <a:off x="4572000" y="233"/>
            <a:ext cx="457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g3333419ab11_1_36"/>
          <p:cNvCxnSpPr/>
          <p:nvPr/>
        </p:nvCxnSpPr>
        <p:spPr>
          <a:xfrm>
            <a:off x="5029675" y="59940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4" name="Google Shape;44;g3333419ab11_1_36"/>
          <p:cNvSpPr txBox="1"/>
          <p:nvPr>
            <p:ph type="title"/>
          </p:nvPr>
        </p:nvSpPr>
        <p:spPr>
          <a:xfrm>
            <a:off x="265500" y="1438333"/>
            <a:ext cx="4045200" cy="238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g3333419ab11_1_36"/>
          <p:cNvSpPr txBox="1"/>
          <p:nvPr>
            <p:ph idx="1" type="subTitle"/>
          </p:nvPr>
        </p:nvSpPr>
        <p:spPr>
          <a:xfrm>
            <a:off x="265500" y="3895201"/>
            <a:ext cx="4045200" cy="17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g3333419ab11_1_36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g3333419ab11_1_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333419ab11_1_43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0" name="Google Shape;50;g3333419ab11_1_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g3333419ab11_1_46"/>
          <p:cNvCxnSpPr/>
          <p:nvPr/>
        </p:nvCxnSpPr>
        <p:spPr>
          <a:xfrm>
            <a:off x="413275" y="3984367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3" name="Google Shape;53;g3333419ab11_1_46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g3333419ab11_1_46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g3333419ab11_1_4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33419ab11_1_5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udul dan Konten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333419ab11_1_53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0" name="Google Shape;60;g3333419ab11_1_53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g3333419ab11_1_53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3333419ab11_1_53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3333419ab11_1_53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333419ab11_1_0"/>
          <p:cNvSpPr txBox="1"/>
          <p:nvPr>
            <p:ph type="title"/>
          </p:nvPr>
        </p:nvSpPr>
        <p:spPr>
          <a:xfrm>
            <a:off x="311700" y="496667"/>
            <a:ext cx="8520600" cy="97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g3333419ab11_1_0"/>
          <p:cNvSpPr txBox="1"/>
          <p:nvPr>
            <p:ph idx="1" type="body"/>
          </p:nvPr>
        </p:nvSpPr>
        <p:spPr>
          <a:xfrm>
            <a:off x="311700" y="1958433"/>
            <a:ext cx="8520600" cy="41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g3333419ab11_1_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"/>
          <p:cNvSpPr txBox="1"/>
          <p:nvPr>
            <p:ph type="ctrTitle"/>
          </p:nvPr>
        </p:nvSpPr>
        <p:spPr>
          <a:xfrm>
            <a:off x="1314725" y="1427300"/>
            <a:ext cx="6515100" cy="2714400"/>
          </a:xfrm>
          <a:prstGeom prst="rect">
            <a:avLst/>
          </a:prstGeom>
          <a:solidFill>
            <a:srgbClr val="E91D63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b="1" lang="id-ID" sz="4320"/>
              <a:t>Praktikum 4 </a:t>
            </a:r>
            <a:endParaRPr b="1" sz="43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b="1" lang="id-ID" sz="4320"/>
              <a:t>Konstruksi Perangkat Lunak</a:t>
            </a:r>
            <a:endParaRPr b="1" sz="43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t/>
            </a:r>
            <a:endParaRPr b="1"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b="1" lang="id-ID" sz="1800"/>
              <a:t>S1SE-07-01</a:t>
            </a:r>
            <a:endParaRPr b="1" sz="1800"/>
          </a:p>
        </p:txBody>
      </p:sp>
      <p:sp>
        <p:nvSpPr>
          <p:cNvPr id="69" name="Google Shape;69;p1"/>
          <p:cNvSpPr txBox="1"/>
          <p:nvPr>
            <p:ph idx="1" type="subTitle"/>
          </p:nvPr>
        </p:nvSpPr>
        <p:spPr>
          <a:xfrm>
            <a:off x="1314725" y="5132160"/>
            <a:ext cx="6997800" cy="123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-ID" sz="2100">
                <a:solidFill>
                  <a:srgbClr val="21212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Pengenalan OOP, Automata dan Tabel Driven</a:t>
            </a:r>
            <a:endParaRPr b="1" sz="2100">
              <a:solidFill>
                <a:srgbClr val="21212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21212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-ID" sz="1238">
                <a:solidFill>
                  <a:srgbClr val="21212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Dibuat oleh : Faza dan Revan</a:t>
            </a:r>
            <a:endParaRPr b="1" sz="2100">
              <a:solidFill>
                <a:srgbClr val="21212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33419ab11_1_75"/>
          <p:cNvSpPr txBox="1"/>
          <p:nvPr>
            <p:ph type="title"/>
          </p:nvPr>
        </p:nvSpPr>
        <p:spPr>
          <a:xfrm>
            <a:off x="1314725" y="1427300"/>
            <a:ext cx="6888000" cy="32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</a:pPr>
            <a:r>
              <a:rPr lang="id-ID" sz="4700"/>
              <a:t>Teori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333419ab11_1_70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100"/>
              <a:t>Agenda</a:t>
            </a:r>
            <a:endParaRPr sz="3100"/>
          </a:p>
        </p:txBody>
      </p:sp>
      <p:sp>
        <p:nvSpPr>
          <p:cNvPr id="80" name="Google Shape;80;g3333419ab11_1_70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AutoNum type="arabicPeriod"/>
            </a:pPr>
            <a:r>
              <a:rPr lang="id-ID" sz="1900"/>
              <a:t>Teori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id-ID" sz="1900"/>
              <a:t>Paktik</a:t>
            </a:r>
            <a:endParaRPr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"/>
          <p:cNvSpPr txBox="1"/>
          <p:nvPr>
            <p:ph type="title"/>
          </p:nvPr>
        </p:nvSpPr>
        <p:spPr>
          <a:xfrm>
            <a:off x="633357" y="1600199"/>
            <a:ext cx="2654449" cy="429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"/>
              <a:buNone/>
            </a:pPr>
            <a:r>
              <a:rPr lang="id-ID" sz="2700"/>
              <a:t>Tujuan Pembelajaran</a:t>
            </a:r>
            <a:endParaRPr/>
          </a:p>
        </p:txBody>
      </p:sp>
      <p:sp>
        <p:nvSpPr>
          <p:cNvPr id="86" name="Google Shape;86;p2"/>
          <p:cNvSpPr txBox="1"/>
          <p:nvPr>
            <p:ph idx="1" type="body"/>
          </p:nvPr>
        </p:nvSpPr>
        <p:spPr>
          <a:xfrm>
            <a:off x="3693638" y="1600199"/>
            <a:ext cx="4597502" cy="429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41934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id-ID"/>
              <a:t>Memahami konsep dasar OOP</a:t>
            </a:r>
            <a:endParaRPr/>
          </a:p>
          <a:p>
            <a:pPr indent="-24193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id-ID"/>
              <a:t>Memahami konsep Automata-based Construction dalam pemrograman</a:t>
            </a:r>
            <a:endParaRPr/>
          </a:p>
          <a:p>
            <a:pPr indent="-24193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id-ID"/>
              <a:t>Memahami konsep Table-Driven Construction dalam pemrograman</a:t>
            </a:r>
            <a:endParaRPr/>
          </a:p>
          <a:p>
            <a:pPr indent="-241934" lvl="0" marL="228600" rtl="0" algn="l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2800"/>
              <a:buChar char="●"/>
            </a:pPr>
            <a:r>
              <a:rPr lang="id-ID"/>
              <a:t>Mengimplementasikan kedua konsep tersebut menggunakan Node.js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33419ab11_1_59"/>
          <p:cNvSpPr txBox="1"/>
          <p:nvPr>
            <p:ph type="title"/>
          </p:nvPr>
        </p:nvSpPr>
        <p:spPr>
          <a:xfrm>
            <a:off x="1314725" y="1427300"/>
            <a:ext cx="6888000" cy="32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</a:pPr>
            <a:r>
              <a:rPr lang="id-ID" sz="4700"/>
              <a:t>O bject-Oriented Programming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id-ID"/>
              <a:t>Apa itu OOP?</a:t>
            </a:r>
            <a:endParaRPr/>
          </a:p>
        </p:txBody>
      </p:sp>
      <p:sp>
        <p:nvSpPr>
          <p:cNvPr id="97" name="Google Shape;97;p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800"/>
              <a:buChar char="●"/>
            </a:pPr>
            <a:r>
              <a:rPr lang="id-ID"/>
              <a:t>OOP (Object-Oriented Programming) adalah paradigma pemrograman yang menggunakan objek untuk mengorganisir kode. Dalam OOP, data dan perilaku dikemas dalam objek untuk meningkatkan modularitas dan reusability kode.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uide to Object-Oriented Programming - Develux" id="102" name="Google Shape;10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1000" y="1371599"/>
            <a:ext cx="6847651" cy="385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 txBox="1"/>
          <p:nvPr>
            <p:ph type="title"/>
          </p:nvPr>
        </p:nvSpPr>
        <p:spPr>
          <a:xfrm>
            <a:off x="1088684" y="804519"/>
            <a:ext cx="7202456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id-ID"/>
              <a:t>Konsep oop</a:t>
            </a:r>
            <a:endParaRPr/>
          </a:p>
        </p:txBody>
      </p:sp>
      <p:pic>
        <p:nvPicPr>
          <p:cNvPr descr="UNIT 3: Graphics: Designing and Developing Graphics Programs ..." id="108" name="Google Shape;10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684" y="2318554"/>
            <a:ext cx="7202455" cy="2844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/>
          <p:nvPr>
            <p:ph type="title"/>
          </p:nvPr>
        </p:nvSpPr>
        <p:spPr>
          <a:xfrm>
            <a:off x="1088684" y="804519"/>
            <a:ext cx="7202456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id-ID"/>
              <a:t>Contoh OOP</a:t>
            </a:r>
            <a:endParaRPr/>
          </a:p>
        </p:txBody>
      </p:sp>
      <p:pic>
        <p:nvPicPr>
          <p:cNvPr id="114" name="Google Shape;11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684" y="2015732"/>
            <a:ext cx="7042066" cy="3450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>
            <p:ph type="title"/>
          </p:nvPr>
        </p:nvSpPr>
        <p:spPr>
          <a:xfrm>
            <a:off x="1088684" y="804519"/>
            <a:ext cx="7202456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id-ID"/>
              <a:t>Contoh oop dengan pewarisan</a:t>
            </a:r>
            <a:endParaRPr/>
          </a:p>
        </p:txBody>
      </p:sp>
      <p:pic>
        <p:nvPicPr>
          <p:cNvPr id="120" name="Google Shape;12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684" y="2015732"/>
            <a:ext cx="6901226" cy="3450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 txBox="1"/>
          <p:nvPr>
            <p:ph type="title"/>
          </p:nvPr>
        </p:nvSpPr>
        <p:spPr>
          <a:xfrm>
            <a:off x="1314724" y="1427304"/>
            <a:ext cx="6515100" cy="3241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</a:pPr>
            <a:r>
              <a:rPr lang="id-ID" sz="4700"/>
              <a:t>Automata-Based Construction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id-ID"/>
              <a:t>Automata-Based Construction</a:t>
            </a:r>
            <a:endParaRPr/>
          </a:p>
        </p:txBody>
      </p:sp>
      <p:sp>
        <p:nvSpPr>
          <p:cNvPr id="131" name="Google Shape;131;p10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id-ID" sz="1600"/>
              <a:t>- Paradigma pemrograman di mana program dipandang sebagai Finite State Machine (FSM)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id-ID" sz="1600"/>
              <a:t>- Ciri-ciri utama: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id-ID" sz="1600"/>
              <a:t>  1. Setiap state memiliki aturan yang jelas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600"/>
              <a:buNone/>
            </a:pPr>
            <a:r>
              <a:rPr lang="id-ID" sz="1600"/>
              <a:t>  2. Perpindahan antar state terjadi secara eksplisit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/>
          <p:cNvSpPr txBox="1"/>
          <p:nvPr>
            <p:ph type="title"/>
          </p:nvPr>
        </p:nvSpPr>
        <p:spPr>
          <a:xfrm>
            <a:off x="1332546" y="4459039"/>
            <a:ext cx="6482259" cy="5515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Play"/>
              <a:buNone/>
            </a:pPr>
            <a:r>
              <a:rPr lang="id-ID" sz="3100"/>
              <a:t>Contoh diagram state</a:t>
            </a:r>
            <a:endParaRPr/>
          </a:p>
        </p:txBody>
      </p:sp>
      <p:pic>
        <p:nvPicPr>
          <p:cNvPr id="137" name="Google Shape;13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8352" y="1310646"/>
            <a:ext cx="6486451" cy="2318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>
            <a:alpha val="0"/>
          </a:srgbClr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"/>
          <p:cNvSpPr txBox="1"/>
          <p:nvPr>
            <p:ph type="title"/>
          </p:nvPr>
        </p:nvSpPr>
        <p:spPr>
          <a:xfrm>
            <a:off x="1088684" y="804519"/>
            <a:ext cx="7202456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id-ID"/>
              <a:t>Contoh Automata-Based dalam Node.js</a:t>
            </a:r>
            <a:endParaRPr/>
          </a:p>
        </p:txBody>
      </p:sp>
      <p:pic>
        <p:nvPicPr>
          <p:cNvPr id="143" name="Google Shape;14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683" y="2015732"/>
            <a:ext cx="4517261" cy="3918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>
            <a:alpha val="0"/>
          </a:srgbClr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type="title"/>
          </p:nvPr>
        </p:nvSpPr>
        <p:spPr>
          <a:xfrm>
            <a:off x="1314724" y="1427304"/>
            <a:ext cx="6515100" cy="3241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</a:pPr>
            <a:r>
              <a:rPr lang="id-ID" sz="4800"/>
              <a:t>Table-Driven Construction</a:t>
            </a:r>
            <a:endParaRPr sz="4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id-ID"/>
              <a:t>Table-Driven Construction</a:t>
            </a:r>
            <a:endParaRPr/>
          </a:p>
        </p:txBody>
      </p:sp>
      <p:sp>
        <p:nvSpPr>
          <p:cNvPr id="154" name="Google Shape;154;p1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id-ID" sz="1600"/>
              <a:t>- Menggunakan tabel untuk menggantikan if-else atau switch-case dalam pengambilan keputusan</a:t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id-ID" sz="1600"/>
              <a:t>- Keuntungan: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id-ID" sz="1600"/>
              <a:t>  1. Lebih mudah dipelihara</a:t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id-ID" sz="1600"/>
              <a:t>  2. Mengurangi kompleksitas kode</a:t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600"/>
              <a:buNone/>
            </a:pPr>
            <a:r>
              <a:rPr lang="id-ID" sz="1600"/>
              <a:t>  3. Lebih cepat untuk pencarian data skala besar</a:t>
            </a: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>
            <a:alpha val="0"/>
          </a:srgbClr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 txBox="1"/>
          <p:nvPr>
            <p:ph type="title"/>
          </p:nvPr>
        </p:nvSpPr>
        <p:spPr>
          <a:xfrm>
            <a:off x="1088684" y="804519"/>
            <a:ext cx="7202456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id-ID"/>
              <a:t>Contoh dalam switch-case</a:t>
            </a:r>
            <a:endParaRPr/>
          </a:p>
        </p:txBody>
      </p:sp>
      <p:pic>
        <p:nvPicPr>
          <p:cNvPr id="160" name="Google Shape;16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684" y="2015732"/>
            <a:ext cx="4616204" cy="3450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id-ID"/>
              <a:t>Dengan tabel-driven</a:t>
            </a:r>
            <a:endParaRPr/>
          </a:p>
        </p:txBody>
      </p:sp>
      <p:pic>
        <p:nvPicPr>
          <p:cNvPr id="166" name="Google Shape;16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44497"/>
            <a:ext cx="9144000" cy="2369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333419ab11_1_79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/>
              <a:t>Contoh Indexed Access dalam Node.js</a:t>
            </a:r>
            <a:endParaRPr/>
          </a:p>
        </p:txBody>
      </p:sp>
      <p:pic>
        <p:nvPicPr>
          <p:cNvPr id="172" name="Google Shape;172;g3333419ab11_1_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2319150"/>
            <a:ext cx="5115000" cy="28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333419ab11_1_86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/>
              <a:t>Contoh Stair-Step Access dalam Node.js</a:t>
            </a:r>
            <a:endParaRPr/>
          </a:p>
        </p:txBody>
      </p:sp>
      <p:pic>
        <p:nvPicPr>
          <p:cNvPr id="178" name="Google Shape;178;g3333419ab11_1_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1953050"/>
            <a:ext cx="6535825" cy="39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 txBox="1"/>
          <p:nvPr>
            <p:ph type="title"/>
          </p:nvPr>
        </p:nvSpPr>
        <p:spPr>
          <a:xfrm>
            <a:off x="1088684" y="804519"/>
            <a:ext cx="7202456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id-ID"/>
              <a:t>Automata dan tabel-driven</a:t>
            </a:r>
            <a:endParaRPr/>
          </a:p>
        </p:txBody>
      </p:sp>
      <p:pic>
        <p:nvPicPr>
          <p:cNvPr id="184" name="Google Shape;184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675" y="1853750"/>
            <a:ext cx="5930400" cy="477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"/>
          <p:cNvSpPr txBox="1"/>
          <p:nvPr>
            <p:ph type="title"/>
          </p:nvPr>
        </p:nvSpPr>
        <p:spPr>
          <a:xfrm>
            <a:off x="1088684" y="804519"/>
            <a:ext cx="7202456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id-ID"/>
              <a:t>Perbandingan Automata vs Table-Driven</a:t>
            </a:r>
            <a:endParaRPr/>
          </a:p>
        </p:txBody>
      </p:sp>
      <p:graphicFrame>
        <p:nvGraphicFramePr>
          <p:cNvPr id="190" name="Google Shape;190;p18"/>
          <p:cNvGraphicFramePr/>
          <p:nvPr/>
        </p:nvGraphicFramePr>
        <p:xfrm>
          <a:off x="1551222" y="20157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{CD1F99AB-A24F-47AE-89C6-70F0EC70A8EF}</a:tableStyleId>
              </a:tblPr>
              <a:tblGrid>
                <a:gridCol w="2068725"/>
                <a:gridCol w="2139950"/>
                <a:gridCol w="2068725"/>
              </a:tblGrid>
              <a:tr h="59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800"/>
                        <a:buFont typeface="Arial"/>
                        <a:buNone/>
                      </a:pPr>
                      <a:r>
                        <a:rPr lang="id-ID" sz="1800" u="none" cap="none" strike="noStrike">
                          <a:solidFill>
                            <a:srgbClr val="000000"/>
                          </a:solidFill>
                        </a:rPr>
                        <a:t>Aspek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139650" marB="139650" marR="139650" marL="232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F9A9D">
                          <a:alpha val="6000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800" u="none" cap="none" strike="noStrike">
                          <a:solidFill>
                            <a:srgbClr val="000000"/>
                          </a:solidFill>
                        </a:rPr>
                        <a:t>Automata-Based</a:t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139650" marB="139650" marR="139650" marL="232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F9A9D">
                          <a:alpha val="6000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800">
                          <a:solidFill>
                            <a:srgbClr val="000000"/>
                          </a:solidFill>
                        </a:rPr>
                        <a:t>Tabel-Driven</a:t>
                      </a:r>
                      <a:endParaRPr sz="1800">
                        <a:solidFill>
                          <a:srgbClr val="000000"/>
                        </a:solidFill>
                      </a:endParaRPr>
                    </a:p>
                  </a:txBody>
                  <a:tcPr marT="139650" marB="139650" marR="139650" marL="232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F9A9D">
                          <a:alpha val="6000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3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400">
                          <a:solidFill>
                            <a:srgbClr val="000000"/>
                          </a:solidFill>
                        </a:rPr>
                        <a:t>Struktur Kode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121025" marB="121025" marR="121025" marL="232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400">
                          <a:solidFill>
                            <a:srgbClr val="000000"/>
                          </a:solidFill>
                        </a:rPr>
                        <a:t>Berbasis state machine</a:t>
                      </a:r>
                      <a:endParaRPr sz="1400">
                        <a:solidFill>
                          <a:srgbClr val="000000"/>
                        </a:solidFill>
                      </a:endParaRPr>
                    </a:p>
                  </a:txBody>
                  <a:tcPr marT="121025" marB="121025" marR="121025" marL="232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400">
                          <a:solidFill>
                            <a:srgbClr val="000000"/>
                          </a:solidFill>
                        </a:rPr>
                        <a:t>Berbasis tabel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121025" marB="121025" marR="121025" marL="232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</a:tr>
              <a:tr h="713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400">
                          <a:solidFill>
                            <a:srgbClr val="000000"/>
                          </a:solidFill>
                        </a:rPr>
                        <a:t>Kelebihan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121025" marB="121025" marR="121025" marL="232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400">
                          <a:solidFill>
                            <a:srgbClr val="000000"/>
                          </a:solidFill>
                        </a:rPr>
                        <a:t>Mudah dipahami untuk FSM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121025" marB="121025" marR="121025" marL="232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400">
                          <a:solidFill>
                            <a:srgbClr val="000000"/>
                          </a:solidFill>
                        </a:rPr>
                        <a:t>Lebih cepat dan fleksibel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121025" marB="121025" marR="121025" marL="232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</a:tr>
              <a:tr h="713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400">
                          <a:solidFill>
                            <a:srgbClr val="000000"/>
                          </a:solidFill>
                        </a:rPr>
                        <a:t>Kekurangan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121025" marB="121025" marR="121025" marL="232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400">
                          <a:solidFill>
                            <a:srgbClr val="000000"/>
                          </a:solidFill>
                        </a:rPr>
                        <a:t>Bisa kompleks untuk sistem besar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121025" marB="121025" marR="121025" marL="232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400">
                          <a:solidFill>
                            <a:srgbClr val="000000"/>
                          </a:solidFill>
                        </a:rPr>
                        <a:t>Memerlukan lebih banyak data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121025" marB="121025" marR="121025" marL="232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</a:tr>
              <a:tr h="713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400">
                          <a:solidFill>
                            <a:srgbClr val="000000"/>
                          </a:solidFill>
                        </a:rPr>
                        <a:t>Contoh kasus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121025" marB="121025" marR="121025" marL="232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400">
                          <a:solidFill>
                            <a:srgbClr val="000000"/>
                          </a:solidFill>
                        </a:rPr>
                        <a:t>Game, Workflow berbasis state</a:t>
                      </a:r>
                      <a:endParaRPr sz="1400">
                        <a:solidFill>
                          <a:srgbClr val="000000"/>
                        </a:solidFill>
                      </a:endParaRPr>
                    </a:p>
                  </a:txBody>
                  <a:tcPr marT="121025" marB="121025" marR="121025" marL="232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1400">
                          <a:solidFill>
                            <a:srgbClr val="000000"/>
                          </a:solidFill>
                        </a:rPr>
                        <a:t>Konversi nilai, pencarian data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121025" marB="121025" marR="121025" marL="2327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BCBE">
                        <a:alpha val="34901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id-ID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Kesimpulan</a:t>
            </a:r>
            <a:endParaRPr/>
          </a:p>
        </p:txBody>
      </p:sp>
      <p:sp>
        <p:nvSpPr>
          <p:cNvPr id="196" name="Google Shape;196;p1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id-ID" sz="1400"/>
              <a:t>- Automata-based Construction digunakan saat program memiliki alur state yang jelas</a:t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id-ID" sz="1400"/>
              <a:t>- Table-driven Construction cocok untuk menggantikan if-else/switch dengan tabel</a:t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400"/>
              <a:buNone/>
            </a:pPr>
            <a:r>
              <a:rPr lang="id-ID" sz="1400"/>
              <a:t>- Node.js mendukung kedua metode dengan pendekatan class dan array/table lookup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333419ab11_1_93"/>
          <p:cNvSpPr txBox="1"/>
          <p:nvPr>
            <p:ph type="title"/>
          </p:nvPr>
        </p:nvSpPr>
        <p:spPr>
          <a:xfrm>
            <a:off x="1314725" y="1427300"/>
            <a:ext cx="6888000" cy="32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</a:pPr>
            <a:r>
              <a:rPr lang="id-ID" sz="4700"/>
              <a:t>Praktik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Faza Abiyyu</dc:creator>
</cp:coreProperties>
</file>